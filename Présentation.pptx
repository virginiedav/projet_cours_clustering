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71" r:id="rId15"/>
    <p:sldId id="272" r:id="rId16"/>
    <p:sldId id="269" r:id="rId17"/>
    <p:sldId id="270"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114AB-9B07-4A59-951A-47E2BC93E868}" v="40" dt="2025-05-26T09:36:21.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3" d="100"/>
          <a:sy n="63" d="100"/>
        </p:scale>
        <p:origin x="8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Virginie DTOF/DTR" userId="5e63e9e0-920c-48d6-a6ef-74e18d22d73d" providerId="ADAL" clId="{D11114AB-9B07-4A59-951A-47E2BC93E868}"/>
    <pc:docChg chg="undo custSel addSld modSld">
      <pc:chgData name="DAVID Virginie DTOF/DTR" userId="5e63e9e0-920c-48d6-a6ef-74e18d22d73d" providerId="ADAL" clId="{D11114AB-9B07-4A59-951A-47E2BC93E868}" dt="2025-05-26T12:12:56.403" v="971" actId="20577"/>
      <pc:docMkLst>
        <pc:docMk/>
      </pc:docMkLst>
      <pc:sldChg chg="modSp mod">
        <pc:chgData name="DAVID Virginie DTOF/DTR" userId="5e63e9e0-920c-48d6-a6ef-74e18d22d73d" providerId="ADAL" clId="{D11114AB-9B07-4A59-951A-47E2BC93E868}" dt="2025-05-26T09:10:11.386" v="39" actId="20577"/>
        <pc:sldMkLst>
          <pc:docMk/>
          <pc:sldMk cId="1086134073" sldId="257"/>
        </pc:sldMkLst>
        <pc:spChg chg="mod">
          <ac:chgData name="DAVID Virginie DTOF/DTR" userId="5e63e9e0-920c-48d6-a6ef-74e18d22d73d" providerId="ADAL" clId="{D11114AB-9B07-4A59-951A-47E2BC93E868}" dt="2025-05-26T09:10:11.386" v="39" actId="20577"/>
          <ac:spMkLst>
            <pc:docMk/>
            <pc:sldMk cId="1086134073" sldId="257"/>
            <ac:spMk id="3" creationId="{574143CE-40C5-3F51-EBCC-636972E41972}"/>
          </ac:spMkLst>
        </pc:spChg>
      </pc:sldChg>
      <pc:sldChg chg="delSp mod">
        <pc:chgData name="DAVID Virginie DTOF/DTR" userId="5e63e9e0-920c-48d6-a6ef-74e18d22d73d" providerId="ADAL" clId="{D11114AB-9B07-4A59-951A-47E2BC93E868}" dt="2025-05-26T08:04:19.114" v="0" actId="478"/>
        <pc:sldMkLst>
          <pc:docMk/>
          <pc:sldMk cId="4108983295" sldId="259"/>
        </pc:sldMkLst>
        <pc:spChg chg="del">
          <ac:chgData name="DAVID Virginie DTOF/DTR" userId="5e63e9e0-920c-48d6-a6ef-74e18d22d73d" providerId="ADAL" clId="{D11114AB-9B07-4A59-951A-47E2BC93E868}" dt="2025-05-26T08:04:19.114" v="0" actId="478"/>
          <ac:spMkLst>
            <pc:docMk/>
            <pc:sldMk cId="4108983295" sldId="259"/>
            <ac:spMk id="7" creationId="{2E5EE220-0D2D-2959-A2A3-E0D37E23338C}"/>
          </ac:spMkLst>
        </pc:spChg>
      </pc:sldChg>
      <pc:sldChg chg="modSp mod">
        <pc:chgData name="DAVID Virginie DTOF/DTR" userId="5e63e9e0-920c-48d6-a6ef-74e18d22d73d" providerId="ADAL" clId="{D11114AB-9B07-4A59-951A-47E2BC93E868}" dt="2025-05-26T08:04:53.387" v="5" actId="207"/>
        <pc:sldMkLst>
          <pc:docMk/>
          <pc:sldMk cId="635177983" sldId="260"/>
        </pc:sldMkLst>
        <pc:spChg chg="mod">
          <ac:chgData name="DAVID Virginie DTOF/DTR" userId="5e63e9e0-920c-48d6-a6ef-74e18d22d73d" providerId="ADAL" clId="{D11114AB-9B07-4A59-951A-47E2BC93E868}" dt="2025-05-26T08:04:38.963" v="1" actId="207"/>
          <ac:spMkLst>
            <pc:docMk/>
            <pc:sldMk cId="635177983" sldId="260"/>
            <ac:spMk id="21" creationId="{195B43AB-0B5F-BCAF-7EB9-F6BB7618F8F2}"/>
          </ac:spMkLst>
        </pc:spChg>
        <pc:spChg chg="mod">
          <ac:chgData name="DAVID Virginie DTOF/DTR" userId="5e63e9e0-920c-48d6-a6ef-74e18d22d73d" providerId="ADAL" clId="{D11114AB-9B07-4A59-951A-47E2BC93E868}" dt="2025-05-26T08:04:53.387" v="5" actId="207"/>
          <ac:spMkLst>
            <pc:docMk/>
            <pc:sldMk cId="635177983" sldId="260"/>
            <ac:spMk id="41" creationId="{6890608D-55E5-F3F5-AE8D-BA5E6DCACD63}"/>
          </ac:spMkLst>
        </pc:spChg>
      </pc:sldChg>
      <pc:sldChg chg="addSp delSp modSp mod">
        <pc:chgData name="DAVID Virginie DTOF/DTR" userId="5e63e9e0-920c-48d6-a6ef-74e18d22d73d" providerId="ADAL" clId="{D11114AB-9B07-4A59-951A-47E2BC93E868}" dt="2025-05-26T12:12:56.403" v="971" actId="20577"/>
        <pc:sldMkLst>
          <pc:docMk/>
          <pc:sldMk cId="1179904124" sldId="268"/>
        </pc:sldMkLst>
        <pc:spChg chg="mod">
          <ac:chgData name="DAVID Virginie DTOF/DTR" userId="5e63e9e0-920c-48d6-a6ef-74e18d22d73d" providerId="ADAL" clId="{D11114AB-9B07-4A59-951A-47E2BC93E868}" dt="2025-05-26T09:09:54.257" v="23" actId="20577"/>
          <ac:spMkLst>
            <pc:docMk/>
            <pc:sldMk cId="1179904124" sldId="268"/>
            <ac:spMk id="2" creationId="{D5FE07A4-6739-518F-72C4-D9C19ADC5FF0}"/>
          </ac:spMkLst>
        </pc:spChg>
        <pc:spChg chg="mod">
          <ac:chgData name="DAVID Virginie DTOF/DTR" userId="5e63e9e0-920c-48d6-a6ef-74e18d22d73d" providerId="ADAL" clId="{D11114AB-9B07-4A59-951A-47E2BC93E868}" dt="2025-05-26T09:23:23.860" v="80" actId="1076"/>
          <ac:spMkLst>
            <pc:docMk/>
            <pc:sldMk cId="1179904124" sldId="268"/>
            <ac:spMk id="4" creationId="{16E75568-2A36-6BF7-848B-317A8C19901E}"/>
          </ac:spMkLst>
        </pc:spChg>
        <pc:spChg chg="del mod">
          <ac:chgData name="DAVID Virginie DTOF/DTR" userId="5e63e9e0-920c-48d6-a6ef-74e18d22d73d" providerId="ADAL" clId="{D11114AB-9B07-4A59-951A-47E2BC93E868}" dt="2025-05-26T09:20:30.902" v="44" actId="478"/>
          <ac:spMkLst>
            <pc:docMk/>
            <pc:sldMk cId="1179904124" sldId="268"/>
            <ac:spMk id="5" creationId="{64D1A743-078B-8B44-766E-DC09604EEF32}"/>
          </ac:spMkLst>
        </pc:spChg>
        <pc:spChg chg="add del">
          <ac:chgData name="DAVID Virginie DTOF/DTR" userId="5e63e9e0-920c-48d6-a6ef-74e18d22d73d" providerId="ADAL" clId="{D11114AB-9B07-4A59-951A-47E2BC93E868}" dt="2025-05-26T09:20:40.414" v="49" actId="478"/>
          <ac:spMkLst>
            <pc:docMk/>
            <pc:sldMk cId="1179904124" sldId="268"/>
            <ac:spMk id="6" creationId="{63546590-275C-5A55-1EBA-91322EDE0341}"/>
          </ac:spMkLst>
        </pc:spChg>
        <pc:spChg chg="del mod">
          <ac:chgData name="DAVID Virginie DTOF/DTR" userId="5e63e9e0-920c-48d6-a6ef-74e18d22d73d" providerId="ADAL" clId="{D11114AB-9B07-4A59-951A-47E2BC93E868}" dt="2025-05-26T09:20:32.213" v="46" actId="478"/>
          <ac:spMkLst>
            <pc:docMk/>
            <pc:sldMk cId="1179904124" sldId="268"/>
            <ac:spMk id="7" creationId="{A3955820-4B68-D48A-1258-D73DE4A24789}"/>
          </ac:spMkLst>
        </pc:spChg>
        <pc:spChg chg="del">
          <ac:chgData name="DAVID Virginie DTOF/DTR" userId="5e63e9e0-920c-48d6-a6ef-74e18d22d73d" providerId="ADAL" clId="{D11114AB-9B07-4A59-951A-47E2BC93E868}" dt="2025-05-26T09:20:34.359" v="47" actId="478"/>
          <ac:spMkLst>
            <pc:docMk/>
            <pc:sldMk cId="1179904124" sldId="268"/>
            <ac:spMk id="8" creationId="{3B401F84-954B-195F-7BD4-04046CB6DB9A}"/>
          </ac:spMkLst>
        </pc:spChg>
        <pc:spChg chg="add mod">
          <ac:chgData name="DAVID Virginie DTOF/DTR" userId="5e63e9e0-920c-48d6-a6ef-74e18d22d73d" providerId="ADAL" clId="{D11114AB-9B07-4A59-951A-47E2BC93E868}" dt="2025-05-26T12:12:56.403" v="971" actId="20577"/>
          <ac:spMkLst>
            <pc:docMk/>
            <pc:sldMk cId="1179904124" sldId="268"/>
            <ac:spMk id="9" creationId="{F45B58CE-00F4-8745-31CD-123F602907BE}"/>
          </ac:spMkLst>
        </pc:spChg>
        <pc:picChg chg="add mod">
          <ac:chgData name="DAVID Virginie DTOF/DTR" userId="5e63e9e0-920c-48d6-a6ef-74e18d22d73d" providerId="ADAL" clId="{D11114AB-9B07-4A59-951A-47E2BC93E868}" dt="2025-05-26T09:23:16.997" v="78" actId="1076"/>
          <ac:picMkLst>
            <pc:docMk/>
            <pc:sldMk cId="1179904124" sldId="268"/>
            <ac:picMk id="1026" creationId="{59F5CEE6-0361-BAE4-E4B7-2BE93531725F}"/>
          </ac:picMkLst>
        </pc:picChg>
        <pc:picChg chg="add del mod">
          <ac:chgData name="DAVID Virginie DTOF/DTR" userId="5e63e9e0-920c-48d6-a6ef-74e18d22d73d" providerId="ADAL" clId="{D11114AB-9B07-4A59-951A-47E2BC93E868}" dt="2025-05-26T09:22:39.044" v="67" actId="478"/>
          <ac:picMkLst>
            <pc:docMk/>
            <pc:sldMk cId="1179904124" sldId="268"/>
            <ac:picMk id="1028" creationId="{7FF35E3E-DD21-50F9-70C2-EB468FCC8629}"/>
          </ac:picMkLst>
        </pc:picChg>
        <pc:picChg chg="add mod">
          <ac:chgData name="DAVID Virginie DTOF/DTR" userId="5e63e9e0-920c-48d6-a6ef-74e18d22d73d" providerId="ADAL" clId="{D11114AB-9B07-4A59-951A-47E2BC93E868}" dt="2025-05-26T09:23:15.043" v="77" actId="1076"/>
          <ac:picMkLst>
            <pc:docMk/>
            <pc:sldMk cId="1179904124" sldId="268"/>
            <ac:picMk id="1030" creationId="{CE6AB4C9-6105-7985-0D78-E87BEFDEEECC}"/>
          </ac:picMkLst>
        </pc:picChg>
      </pc:sldChg>
      <pc:sldChg chg="modSp mod">
        <pc:chgData name="DAVID Virginie DTOF/DTR" userId="5e63e9e0-920c-48d6-a6ef-74e18d22d73d" providerId="ADAL" clId="{D11114AB-9B07-4A59-951A-47E2BC93E868}" dt="2025-05-26T09:10:34.346" v="40" actId="1076"/>
        <pc:sldMkLst>
          <pc:docMk/>
          <pc:sldMk cId="1012564684" sldId="269"/>
        </pc:sldMkLst>
        <pc:picChg chg="mod">
          <ac:chgData name="DAVID Virginie DTOF/DTR" userId="5e63e9e0-920c-48d6-a6ef-74e18d22d73d" providerId="ADAL" clId="{D11114AB-9B07-4A59-951A-47E2BC93E868}" dt="2025-05-26T09:10:34.346" v="40" actId="1076"/>
          <ac:picMkLst>
            <pc:docMk/>
            <pc:sldMk cId="1012564684" sldId="269"/>
            <ac:picMk id="5" creationId="{0C4E4FFF-DD7E-FDB3-FB04-32A01D04FEAB}"/>
          </ac:picMkLst>
        </pc:picChg>
      </pc:sldChg>
      <pc:sldChg chg="modSp mod">
        <pc:chgData name="DAVID Virginie DTOF/DTR" userId="5e63e9e0-920c-48d6-a6ef-74e18d22d73d" providerId="ADAL" clId="{D11114AB-9B07-4A59-951A-47E2BC93E868}" dt="2025-05-26T09:10:45.536" v="42" actId="1076"/>
        <pc:sldMkLst>
          <pc:docMk/>
          <pc:sldMk cId="3171985784" sldId="270"/>
        </pc:sldMkLst>
        <pc:picChg chg="mod">
          <ac:chgData name="DAVID Virginie DTOF/DTR" userId="5e63e9e0-920c-48d6-a6ef-74e18d22d73d" providerId="ADAL" clId="{D11114AB-9B07-4A59-951A-47E2BC93E868}" dt="2025-05-26T09:10:45.536" v="42" actId="1076"/>
          <ac:picMkLst>
            <pc:docMk/>
            <pc:sldMk cId="3171985784" sldId="270"/>
            <ac:picMk id="5" creationId="{9A371D62-71AC-FD8F-27AD-53EF18311D00}"/>
          </ac:picMkLst>
        </pc:picChg>
      </pc:sldChg>
      <pc:sldChg chg="addSp delSp modSp add mod">
        <pc:chgData name="DAVID Virginie DTOF/DTR" userId="5e63e9e0-920c-48d6-a6ef-74e18d22d73d" providerId="ADAL" clId="{D11114AB-9B07-4A59-951A-47E2BC93E868}" dt="2025-05-26T09:36:18.982" v="969" actId="1076"/>
        <pc:sldMkLst>
          <pc:docMk/>
          <pc:sldMk cId="3024497210" sldId="271"/>
        </pc:sldMkLst>
        <pc:spChg chg="add mod">
          <ac:chgData name="DAVID Virginie DTOF/DTR" userId="5e63e9e0-920c-48d6-a6ef-74e18d22d73d" providerId="ADAL" clId="{D11114AB-9B07-4A59-951A-47E2BC93E868}" dt="2025-05-26T09:28:12.888" v="420" actId="20577"/>
          <ac:spMkLst>
            <pc:docMk/>
            <pc:sldMk cId="3024497210" sldId="271"/>
            <ac:spMk id="3" creationId="{67E0338D-B3F5-2744-CA45-0A22CD3498A9}"/>
          </ac:spMkLst>
        </pc:spChg>
        <pc:spChg chg="del mod">
          <ac:chgData name="DAVID Virginie DTOF/DTR" userId="5e63e9e0-920c-48d6-a6ef-74e18d22d73d" providerId="ADAL" clId="{D11114AB-9B07-4A59-951A-47E2BC93E868}" dt="2025-05-26T09:27:47.496" v="399" actId="478"/>
          <ac:spMkLst>
            <pc:docMk/>
            <pc:sldMk cId="3024497210" sldId="271"/>
            <ac:spMk id="4" creationId="{16E75568-2A36-6BF7-848B-317A8C19901E}"/>
          </ac:spMkLst>
        </pc:spChg>
        <pc:spChg chg="add mod">
          <ac:chgData name="DAVID Virginie DTOF/DTR" userId="5e63e9e0-920c-48d6-a6ef-74e18d22d73d" providerId="ADAL" clId="{D11114AB-9B07-4A59-951A-47E2BC93E868}" dt="2025-05-26T09:32:01.776" v="710" actId="313"/>
          <ac:spMkLst>
            <pc:docMk/>
            <pc:sldMk cId="3024497210" sldId="271"/>
            <ac:spMk id="5" creationId="{EB6112B4-88A2-E423-AB8E-7E1E5EDD04B3}"/>
          </ac:spMkLst>
        </pc:spChg>
        <pc:picChg chg="add mod">
          <ac:chgData name="DAVID Virginie DTOF/DTR" userId="5e63e9e0-920c-48d6-a6ef-74e18d22d73d" providerId="ADAL" clId="{D11114AB-9B07-4A59-951A-47E2BC93E868}" dt="2025-05-26T09:36:18.982" v="969" actId="1076"/>
          <ac:picMkLst>
            <pc:docMk/>
            <pc:sldMk cId="3024497210" sldId="271"/>
            <ac:picMk id="2050" creationId="{EF576009-DAA7-3EE6-5130-0245A463499B}"/>
          </ac:picMkLst>
        </pc:picChg>
      </pc:sldChg>
      <pc:sldChg chg="addSp delSp modSp add mod">
        <pc:chgData name="DAVID Virginie DTOF/DTR" userId="5e63e9e0-920c-48d6-a6ef-74e18d22d73d" providerId="ADAL" clId="{D11114AB-9B07-4A59-951A-47E2BC93E868}" dt="2025-05-26T09:36:21.414" v="970" actId="1076"/>
        <pc:sldMkLst>
          <pc:docMk/>
          <pc:sldMk cId="3514416327" sldId="272"/>
        </pc:sldMkLst>
        <pc:spChg chg="add mod">
          <ac:chgData name="DAVID Virginie DTOF/DTR" userId="5e63e9e0-920c-48d6-a6ef-74e18d22d73d" providerId="ADAL" clId="{D11114AB-9B07-4A59-951A-47E2BC93E868}" dt="2025-05-26T09:33:01.189" v="752" actId="14100"/>
          <ac:spMkLst>
            <pc:docMk/>
            <pc:sldMk cId="3514416327" sldId="272"/>
            <ac:spMk id="3" creationId="{9A46EB95-24E3-35D9-0DF5-508D25A4D058}"/>
          </ac:spMkLst>
        </pc:spChg>
        <pc:spChg chg="del mod">
          <ac:chgData name="DAVID Virginie DTOF/DTR" userId="5e63e9e0-920c-48d6-a6ef-74e18d22d73d" providerId="ADAL" clId="{D11114AB-9B07-4A59-951A-47E2BC93E868}" dt="2025-05-26T09:32:33.233" v="712" actId="478"/>
          <ac:spMkLst>
            <pc:docMk/>
            <pc:sldMk cId="3514416327" sldId="272"/>
            <ac:spMk id="4" creationId="{16E75568-2A36-6BF7-848B-317A8C19901E}"/>
          </ac:spMkLst>
        </pc:spChg>
        <pc:spChg chg="add mod">
          <ac:chgData name="DAVID Virginie DTOF/DTR" userId="5e63e9e0-920c-48d6-a6ef-74e18d22d73d" providerId="ADAL" clId="{D11114AB-9B07-4A59-951A-47E2BC93E868}" dt="2025-05-26T09:36:00.287" v="963" actId="20577"/>
          <ac:spMkLst>
            <pc:docMk/>
            <pc:sldMk cId="3514416327" sldId="272"/>
            <ac:spMk id="5" creationId="{D3543423-F3A2-563F-E650-C8BF9D7E15B2}"/>
          </ac:spMkLst>
        </pc:spChg>
        <pc:picChg chg="add mod">
          <ac:chgData name="DAVID Virginie DTOF/DTR" userId="5e63e9e0-920c-48d6-a6ef-74e18d22d73d" providerId="ADAL" clId="{D11114AB-9B07-4A59-951A-47E2BC93E868}" dt="2025-05-26T09:36:21.414" v="970" actId="1076"/>
          <ac:picMkLst>
            <pc:docMk/>
            <pc:sldMk cId="3514416327" sldId="272"/>
            <ac:picMk id="3074" creationId="{AB60D3F0-9494-1614-04B8-B06C865ECD03}"/>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3T08:26:59.195"/>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3T08:27:00.340"/>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0 12,'0'-5,"0"-2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3T08:27:01.484"/>
    </inkml:context>
    <inkml:brush xml:id="br0">
      <inkml:brushProperty name="width" value="0.3" units="cm"/>
      <inkml:brushProperty name="height" value="0.6" units="cm"/>
      <inkml:brushProperty name="color" value="#FF2500"/>
      <inkml:brushProperty name="tip" value="rectangle"/>
      <inkml:brushProperty name="rasterOp" value="maskPen"/>
      <inkml:brushProperty name="ignorePressure" value="1"/>
    </inkml:brush>
  </inkml:definitions>
  <inkml:trace contextRef="#ctx0" brushRef="#br0">0 1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B4D906-4FE4-616C-988C-E531D3D8CB0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B771F26-C16D-C72B-B561-2410A3DD2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18D5158-F6BD-784E-1CC5-F72B8908EE7B}"/>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5B3D70C6-95AE-412C-C390-D8D37CFD3EB0}"/>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1CFDE951-7B5E-9F96-BBCF-113F3D1FE796}"/>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168523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27345D-9E8C-5766-B1AA-94488A7B05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28AA1E5-0C20-2FB0-59BD-920043D2F8C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248AE0-C8E0-8C7A-01D1-9A1E7C491DB8}"/>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D6C47154-B362-A2CE-420B-40894817C459}"/>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3A97077A-B9F9-A8B4-C433-0E2AA536364A}"/>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401312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87E41C-32BF-1351-91EC-FC50630C5DD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42CDE7A-FE88-6578-84F1-141A03BE4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08F11D8-9F66-515A-DE0B-53976C6590A8}"/>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A3900720-E26D-2C74-6B74-E94489A9B22A}"/>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635FA585-38A2-7F9C-AC66-4A9B81B97C1B}"/>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2064498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37148D-FE1B-1766-09B4-0AFC9FE8C10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2BAE9DD-3780-6C6D-5CBC-AD75315FC79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DFC9EBD-5B16-96FD-886C-EDB6BEC9115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7054AFA-CBF8-367C-3834-9AD5D6ECAE0D}"/>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6" name="Espace réservé du pied de page 5">
            <a:extLst>
              <a:ext uri="{FF2B5EF4-FFF2-40B4-BE49-F238E27FC236}">
                <a16:creationId xmlns:a16="http://schemas.microsoft.com/office/drawing/2014/main" id="{2D45FCE8-46D1-FE14-2C83-DC318940FAEE}"/>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E2DB462E-131E-D785-84D6-18D1B6559DAD}"/>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3574042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AC316E-D213-D1A1-BE59-6B80A52629A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D3CA625-F988-D857-4C62-608525CE8B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32D3E90-D2FB-B817-76EA-50D2655E3C6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72A89AB-B83C-3CF5-8847-095B22305E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98450A2-0AC0-D48F-B6D6-70927F46CC1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857B4BC-18B4-2D92-9B10-763053A88E6B}"/>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8" name="Espace réservé du pied de page 7">
            <a:extLst>
              <a:ext uri="{FF2B5EF4-FFF2-40B4-BE49-F238E27FC236}">
                <a16:creationId xmlns:a16="http://schemas.microsoft.com/office/drawing/2014/main" id="{E51C1B11-69D0-8000-1790-7B3AAC668010}"/>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C560A163-5C30-319E-4656-37164117ACFC}"/>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2501506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F92D1F-DCAD-E309-14DF-309E8E69B51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26451F8-D8EA-3F4A-CAB0-077726179BF8}"/>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4" name="Espace réservé du pied de page 3">
            <a:extLst>
              <a:ext uri="{FF2B5EF4-FFF2-40B4-BE49-F238E27FC236}">
                <a16:creationId xmlns:a16="http://schemas.microsoft.com/office/drawing/2014/main" id="{29241053-09F3-20B5-5A9B-24F4EC5B7CFA}"/>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D0F273B1-2CDE-02BD-1D42-0DDEC90B90D1}"/>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2628278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9CE2034-FE54-23AB-F02C-E26832094364}"/>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3" name="Espace réservé du pied de page 2">
            <a:extLst>
              <a:ext uri="{FF2B5EF4-FFF2-40B4-BE49-F238E27FC236}">
                <a16:creationId xmlns:a16="http://schemas.microsoft.com/office/drawing/2014/main" id="{48C2E612-337E-7A99-04D9-05B4E3D7CA06}"/>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B27413-B460-5400-EBD7-01F8DAA3286D}"/>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1439103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D41D7F-8EE0-AD5D-8A13-AF390F21A4D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48EBA76-9BB2-67E0-B061-D207007FF8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A04C25F-96BC-39D3-6F22-CDA0AB4CC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9E8A394-B6A7-F006-5A0C-0EB377497532}"/>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6" name="Espace réservé du pied de page 5">
            <a:extLst>
              <a:ext uri="{FF2B5EF4-FFF2-40B4-BE49-F238E27FC236}">
                <a16:creationId xmlns:a16="http://schemas.microsoft.com/office/drawing/2014/main" id="{A5EE8E81-6385-DD96-E590-E32F83808B70}"/>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E0A787F7-F74F-54A8-D6D5-0F3A22FF60B2}"/>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9571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E8455C-F1FA-E3AE-F6D3-0AD5B681EE8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CBEC328-F453-4FC1-CAE2-00F112006C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a:extLst>
              <a:ext uri="{FF2B5EF4-FFF2-40B4-BE49-F238E27FC236}">
                <a16:creationId xmlns:a16="http://schemas.microsoft.com/office/drawing/2014/main" id="{3F59E07E-6C89-3CF6-C5E3-4D7D73FE43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8833CE1-5BCA-2BE6-D4DF-35DEE3946821}"/>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6" name="Espace réservé du pied de page 5">
            <a:extLst>
              <a:ext uri="{FF2B5EF4-FFF2-40B4-BE49-F238E27FC236}">
                <a16:creationId xmlns:a16="http://schemas.microsoft.com/office/drawing/2014/main" id="{9A041751-F6FD-8A74-A9E5-EC25F05C8BC4}"/>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DEFD1245-7DCA-3B84-B066-47923251C40F}"/>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3468927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67C190-A6BB-6F5E-C0DB-261F4F679C3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61C8CD1-17E8-0215-D158-34BD212D96F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B8E6E3-7309-1116-6039-71F0C4DC6CEC}"/>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B1724D62-CA5E-765B-81ED-495E9A782BB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3EA67EC7-DA5A-8361-6622-155EC13AAACC}"/>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180195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FE56ABD-BF85-A2BC-4955-D110B4BD4E7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909353-B182-FC81-BD46-CEF919500F8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2824437-BD76-B9B0-50EE-068CEB3DE3D9}"/>
              </a:ext>
            </a:extLst>
          </p:cNvPr>
          <p:cNvSpPr>
            <a:spLocks noGrp="1"/>
          </p:cNvSpPr>
          <p:nvPr>
            <p:ph type="dt" sz="half" idx="10"/>
          </p:nvPr>
        </p:nvSpPr>
        <p:spPr/>
        <p:txBody>
          <a:body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23521FC5-CF5C-D5F7-F7BB-AC93C5F4086C}"/>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86222161-AD76-5DE7-AA42-6365EDBE84AF}"/>
              </a:ext>
            </a:extLst>
          </p:cNvPr>
          <p:cNvSpPr>
            <a:spLocks noGrp="1"/>
          </p:cNvSpPr>
          <p:nvPr>
            <p:ph type="sldNum" sz="quarter" idx="12"/>
          </p:nvPr>
        </p:nvSpPr>
        <p:spPr/>
        <p:txBody>
          <a:bodyPr/>
          <a:lstStyle/>
          <a:p>
            <a:fld id="{388C06DC-3EBF-4007-8381-122DF394F0CB}" type="slidenum">
              <a:rPr lang="fr-FR" smtClean="0"/>
              <a:t>‹N°›</a:t>
            </a:fld>
            <a:endParaRPr lang="fr-FR" dirty="0"/>
          </a:p>
        </p:txBody>
      </p:sp>
    </p:spTree>
    <p:extLst>
      <p:ext uri="{BB962C8B-B14F-4D97-AF65-F5344CB8AC3E}">
        <p14:creationId xmlns:p14="http://schemas.microsoft.com/office/powerpoint/2010/main" val="1775652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8A7407B-F536-5785-1C07-A799961588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1E43434-C98E-78AA-B922-3EB6901EEB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0A800A3-8374-F60D-4B00-5CC0B2171D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5E75E-323C-41EE-BE2F-2B3E317E6750}" type="datetimeFigureOut">
              <a:rPr lang="fr-FR" smtClean="0"/>
              <a:t>06/06/2025</a:t>
            </a:fld>
            <a:endParaRPr lang="fr-FR" dirty="0"/>
          </a:p>
        </p:txBody>
      </p:sp>
      <p:sp>
        <p:nvSpPr>
          <p:cNvPr id="5" name="Espace réservé du pied de page 4">
            <a:extLst>
              <a:ext uri="{FF2B5EF4-FFF2-40B4-BE49-F238E27FC236}">
                <a16:creationId xmlns:a16="http://schemas.microsoft.com/office/drawing/2014/main" id="{9BE94D81-A2C2-BA57-51DA-AFA7F73AA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2618BAE7-6148-BE69-0747-FC4CA95DA4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C06DC-3EBF-4007-8381-122DF394F0CB}" type="slidenum">
              <a:rPr lang="fr-FR" smtClean="0"/>
              <a:t>‹N°›</a:t>
            </a:fld>
            <a:endParaRPr lang="fr-FR" dirty="0"/>
          </a:p>
        </p:txBody>
      </p:sp>
      <p:sp>
        <p:nvSpPr>
          <p:cNvPr id="8" name="ZoneTexte 7">
            <a:extLst>
              <a:ext uri="{FF2B5EF4-FFF2-40B4-BE49-F238E27FC236}">
                <a16:creationId xmlns:a16="http://schemas.microsoft.com/office/drawing/2014/main" id="{78ADCDDE-75C5-F8D5-5896-2A9FF122DE05}"/>
              </a:ext>
            </a:extLst>
          </p:cNvPr>
          <p:cNvSpPr txBox="1"/>
          <p:nvPr userDrawn="1">
            <p:extLst>
              <p:ext uri="{1162E1C5-73C7-4A58-AE30-91384D911F3F}">
                <p184:classification xmlns:p184="http://schemas.microsoft.com/office/powerpoint/2018/4/main" val="ftr"/>
              </p:ext>
            </p:extLst>
          </p:nvPr>
        </p:nvSpPr>
        <p:spPr>
          <a:xfrm>
            <a:off x="5649913" y="6672580"/>
            <a:ext cx="920750" cy="121920"/>
          </a:xfrm>
          <a:prstGeom prst="rect">
            <a:avLst/>
          </a:prstGeom>
        </p:spPr>
        <p:txBody>
          <a:bodyPr horzOverflow="overflow" lIns="0" tIns="0" rIns="0" bIns="0">
            <a:spAutoFit/>
          </a:bodyPr>
          <a:lstStyle/>
          <a:p>
            <a:pPr algn="l"/>
            <a:r>
              <a:rPr lang="fr-FR" sz="800">
                <a:solidFill>
                  <a:srgbClr val="ED7D31"/>
                </a:solidFill>
                <a:latin typeface="Helvetica 75 Bold" panose="020B0804020202020204" pitchFamily="34" charset="0"/>
              </a:rPr>
              <a:t>Orange Restricted</a:t>
            </a:r>
          </a:p>
        </p:txBody>
      </p:sp>
    </p:spTree>
    <p:extLst>
      <p:ext uri="{BB962C8B-B14F-4D97-AF65-F5344CB8AC3E}">
        <p14:creationId xmlns:p14="http://schemas.microsoft.com/office/powerpoint/2010/main" val="246884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tHub - GuillaumeNau/Projet_9_OP: Produisez une étude de marché avec R ...">
            <a:extLst>
              <a:ext uri="{FF2B5EF4-FFF2-40B4-BE49-F238E27FC236}">
                <a16:creationId xmlns:a16="http://schemas.microsoft.com/office/drawing/2014/main" id="{3504DC62-EA69-96CC-EDA3-9794A3D79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5583"/>
            <a:ext cx="12192000" cy="49879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9B405BF7-4EA2-02BC-89B8-B110D97B2478}"/>
              </a:ext>
            </a:extLst>
          </p:cNvPr>
          <p:cNvSpPr txBox="1"/>
          <p:nvPr/>
        </p:nvSpPr>
        <p:spPr>
          <a:xfrm>
            <a:off x="10357922" y="6292417"/>
            <a:ext cx="2460171" cy="369332"/>
          </a:xfrm>
          <a:prstGeom prst="rect">
            <a:avLst/>
          </a:prstGeom>
          <a:noFill/>
        </p:spPr>
        <p:txBody>
          <a:bodyPr wrap="square" rtlCol="0">
            <a:spAutoFit/>
          </a:bodyPr>
          <a:lstStyle/>
          <a:p>
            <a:r>
              <a:rPr lang="fr-FR" dirty="0"/>
              <a:t>DAVID Virginie</a:t>
            </a:r>
          </a:p>
        </p:txBody>
      </p:sp>
    </p:spTree>
    <p:extLst>
      <p:ext uri="{BB962C8B-B14F-4D97-AF65-F5344CB8AC3E}">
        <p14:creationId xmlns:p14="http://schemas.microsoft.com/office/powerpoint/2010/main" val="1953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CC6E1FF-9A88-8EBE-32F0-57340851361D}"/>
              </a:ext>
            </a:extLst>
          </p:cNvPr>
          <p:cNvSpPr txBox="1"/>
          <p:nvPr/>
        </p:nvSpPr>
        <p:spPr>
          <a:xfrm>
            <a:off x="809152" y="314425"/>
            <a:ext cx="4991101" cy="523220"/>
          </a:xfrm>
          <a:prstGeom prst="rect">
            <a:avLst/>
          </a:prstGeom>
          <a:noFill/>
        </p:spPr>
        <p:txBody>
          <a:bodyPr wrap="square" rtlCol="0">
            <a:spAutoFit/>
          </a:bodyPr>
          <a:lstStyle/>
          <a:p>
            <a:r>
              <a:rPr lang="fr-FR" sz="2800" b="1" dirty="0">
                <a:solidFill>
                  <a:srgbClr val="C00000"/>
                </a:solidFill>
                <a:latin typeface="Arial" panose="020B0604020202020204" pitchFamily="34" charset="0"/>
                <a:cs typeface="Arial" panose="020B0604020202020204" pitchFamily="34" charset="0"/>
              </a:rPr>
              <a:t>Sommaire </a:t>
            </a:r>
          </a:p>
        </p:txBody>
      </p:sp>
      <p:sp>
        <p:nvSpPr>
          <p:cNvPr id="3" name="ZoneTexte 2">
            <a:extLst>
              <a:ext uri="{FF2B5EF4-FFF2-40B4-BE49-F238E27FC236}">
                <a16:creationId xmlns:a16="http://schemas.microsoft.com/office/drawing/2014/main" id="{574143CE-40C5-3F51-EBCC-636972E41972}"/>
              </a:ext>
            </a:extLst>
          </p:cNvPr>
          <p:cNvSpPr txBox="1"/>
          <p:nvPr/>
        </p:nvSpPr>
        <p:spPr>
          <a:xfrm>
            <a:off x="647204" y="1189105"/>
            <a:ext cx="9133114" cy="6247864"/>
          </a:xfrm>
          <a:prstGeom prst="rect">
            <a:avLst/>
          </a:prstGeom>
          <a:noFill/>
        </p:spPr>
        <p:txBody>
          <a:bodyPr wrap="square" rtlCol="0">
            <a:spAutoFit/>
          </a:bodyPr>
          <a:lstStyle/>
          <a:p>
            <a:pPr marL="342900" indent="-342900">
              <a:buFont typeface="+mj-lt"/>
              <a:buAutoNum type="arabicPeriod"/>
            </a:pPr>
            <a:r>
              <a:rPr lang="fr-FR" sz="1600" b="1" dirty="0">
                <a:latin typeface="Arial" panose="020B0604020202020204" pitchFamily="34" charset="0"/>
                <a:cs typeface="Arial" panose="020B0604020202020204" pitchFamily="34" charset="0"/>
              </a:rPr>
              <a:t>Contexte du projet</a:t>
            </a:r>
          </a:p>
          <a:p>
            <a:pPr marL="742950" lvl="1" indent="-285750">
              <a:buFont typeface="Wingdings" panose="05000000000000000000" pitchFamily="2" charset="2"/>
              <a:buChar char="Ø"/>
            </a:pPr>
            <a:r>
              <a:rPr lang="fr-FR" sz="1600" dirty="0">
                <a:latin typeface="Arial" panose="020B0604020202020204" pitchFamily="34" charset="0"/>
                <a:cs typeface="Arial" panose="020B0604020202020204" pitchFamily="34" charset="0"/>
              </a:rPr>
              <a:t>L’international, sans pays cible : tout est ouvert</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marL="342900" indent="-342900">
              <a:buFont typeface="+mj-lt"/>
              <a:buAutoNum type="arabicPeriod"/>
            </a:pPr>
            <a:r>
              <a:rPr lang="fr-FR" sz="1600" b="1" dirty="0">
                <a:latin typeface="Arial" panose="020B0604020202020204" pitchFamily="34" charset="0"/>
                <a:cs typeface="Arial" panose="020B0604020202020204" pitchFamily="34" charset="0"/>
              </a:rPr>
              <a:t>Sources et préparation des données </a:t>
            </a:r>
          </a:p>
          <a:p>
            <a:pPr marL="800100" lvl="1" indent="-342900">
              <a:buFont typeface="Wingdings" panose="05000000000000000000" pitchFamily="2" charset="2"/>
              <a:buChar char="Ø"/>
            </a:pPr>
            <a:r>
              <a:rPr lang="fr-FR" sz="1600" dirty="0">
                <a:latin typeface="Arial" panose="020B0604020202020204" pitchFamily="34" charset="0"/>
                <a:cs typeface="Arial" panose="020B0604020202020204" pitchFamily="34" charset="0"/>
              </a:rPr>
              <a:t>Fusion et nettoyage de données sur la disponibilité alimentaire, la population et le PIB</a:t>
            </a:r>
            <a:br>
              <a:rPr lang="fr-FR" sz="1600" dirty="0">
                <a:latin typeface="Arial" panose="020B0604020202020204" pitchFamily="34" charset="0"/>
                <a:cs typeface="Arial" panose="020B0604020202020204" pitchFamily="34" charset="0"/>
              </a:rPr>
            </a:br>
            <a:r>
              <a:rPr lang="fr-FR" sz="1600" dirty="0">
                <a:latin typeface="Arial" panose="020B0604020202020204" pitchFamily="34" charset="0"/>
                <a:cs typeface="Arial" panose="020B0604020202020204" pitchFamily="34" charset="0"/>
              </a:rPr>
              <a:t> </a:t>
            </a:r>
          </a:p>
          <a:p>
            <a:pPr marL="342900" indent="-342900">
              <a:buFont typeface="+mj-lt"/>
              <a:buAutoNum type="arabicPeriod"/>
            </a:pPr>
            <a:r>
              <a:rPr lang="fr-FR" sz="1600" b="1" dirty="0">
                <a:latin typeface="Arial" panose="020B0604020202020204" pitchFamily="34" charset="0"/>
                <a:cs typeface="Arial" panose="020B0604020202020204" pitchFamily="34" charset="0"/>
              </a:rPr>
              <a:t>Méthodologie d’analyse</a:t>
            </a:r>
          </a:p>
          <a:p>
            <a:pPr marL="800100" lvl="1" indent="-342900">
              <a:buFont typeface="Wingdings" panose="05000000000000000000" pitchFamily="2" charset="2"/>
              <a:buChar char="Ø"/>
            </a:pPr>
            <a:r>
              <a:rPr lang="fr-FR" sz="1600" dirty="0">
                <a:latin typeface="Arial" panose="020B0604020202020204" pitchFamily="34" charset="0"/>
                <a:cs typeface="Arial" panose="020B0604020202020204" pitchFamily="34" charset="0"/>
              </a:rPr>
              <a:t>Classification ascendante hiérarchique + clustering K-</a:t>
            </a:r>
            <a:r>
              <a:rPr lang="fr-FR" sz="1600" dirty="0" err="1">
                <a:latin typeface="Arial" panose="020B0604020202020204" pitchFamily="34" charset="0"/>
                <a:cs typeface="Arial" panose="020B0604020202020204" pitchFamily="34" charset="0"/>
              </a:rPr>
              <a:t>Means</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marL="342900" indent="-342900">
              <a:buFont typeface="+mj-lt"/>
              <a:buAutoNum type="arabicPeriod"/>
            </a:pPr>
            <a:r>
              <a:rPr lang="fr-FR" sz="1600" b="1" dirty="0">
                <a:latin typeface="Arial" panose="020B0604020202020204" pitchFamily="34" charset="0"/>
                <a:cs typeface="Arial" panose="020B0604020202020204" pitchFamily="34" charset="0"/>
              </a:rPr>
              <a:t>Résultat des clustering </a:t>
            </a:r>
          </a:p>
          <a:p>
            <a:pPr marL="800100" lvl="1" indent="-342900">
              <a:buFont typeface="Wingdings" panose="05000000000000000000" pitchFamily="2" charset="2"/>
              <a:buChar char="Ø"/>
            </a:pPr>
            <a:r>
              <a:rPr lang="fr-FR" sz="1600" dirty="0">
                <a:latin typeface="Arial" panose="020B0604020202020204" pitchFamily="34" charset="0"/>
                <a:cs typeface="Arial" panose="020B0604020202020204" pitchFamily="34" charset="0"/>
              </a:rPr>
              <a:t>Groupes de pays identifiés</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marL="342900" indent="-342900">
              <a:buFont typeface="+mj-lt"/>
              <a:buAutoNum type="arabicPeriod"/>
            </a:pPr>
            <a:r>
              <a:rPr lang="fr-FR" sz="1600" b="1" dirty="0">
                <a:latin typeface="Arial" panose="020B0604020202020204" pitchFamily="34" charset="0"/>
                <a:cs typeface="Arial" panose="020B0604020202020204" pitchFamily="34" charset="0"/>
              </a:rPr>
              <a:t>Caractéristiques des clusters</a:t>
            </a:r>
          </a:p>
          <a:p>
            <a:pPr marL="800100" lvl="1" indent="-342900">
              <a:buFont typeface="Wingdings" panose="05000000000000000000" pitchFamily="2" charset="2"/>
              <a:buChar char="Ø"/>
            </a:pPr>
            <a:r>
              <a:rPr lang="fr-FR" sz="1600" dirty="0">
                <a:latin typeface="Arial" panose="020B0604020202020204" pitchFamily="34" charset="0"/>
                <a:cs typeface="Arial" panose="020B0604020202020204" pitchFamily="34" charset="0"/>
              </a:rPr>
              <a:t>Focus sur les pays riches / à fort potentiel</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marL="342900" indent="-342900">
              <a:buFont typeface="+mj-lt"/>
              <a:buAutoNum type="arabicPeriod"/>
            </a:pPr>
            <a:r>
              <a:rPr lang="fr-FR" sz="1600" b="1" dirty="0">
                <a:latin typeface="Arial" panose="020B0604020202020204" pitchFamily="34" charset="0"/>
                <a:cs typeface="Arial" panose="020B0604020202020204" pitchFamily="34" charset="0"/>
              </a:rPr>
              <a:t>Recommandations</a:t>
            </a:r>
          </a:p>
          <a:p>
            <a:pPr marL="800100" lvl="1" indent="-342900">
              <a:buFont typeface="Wingdings" panose="05000000000000000000" pitchFamily="2" charset="2"/>
              <a:buChar char="Ø"/>
            </a:pPr>
            <a:r>
              <a:rPr lang="fr-FR" sz="1600" dirty="0">
                <a:latin typeface="Arial" panose="020B0604020202020204" pitchFamily="34" charset="0"/>
                <a:cs typeface="Arial" panose="020B0604020202020204" pitchFamily="34" charset="0"/>
              </a:rPr>
              <a:t>Préconisations de pays cibles pour l’exportation de poulet.</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lvl="1"/>
            <a:br>
              <a:rPr lang="fr-FR" sz="1600" dirty="0">
                <a:latin typeface="Arial" panose="020B0604020202020204" pitchFamily="34" charset="0"/>
                <a:cs typeface="Arial" panose="020B0604020202020204" pitchFamily="34" charset="0"/>
              </a:rPr>
            </a:b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a:p>
            <a:pPr lvl="1"/>
            <a:br>
              <a:rPr lang="fr-FR" sz="1600" dirty="0">
                <a:latin typeface="Arial" panose="020B0604020202020204" pitchFamily="34" charset="0"/>
                <a:cs typeface="Arial" panose="020B0604020202020204" pitchFamily="34" charset="0"/>
              </a:rPr>
            </a:br>
            <a:r>
              <a:rPr lang="fr-FR" sz="1600" dirty="0">
                <a:latin typeface="Arial" panose="020B0604020202020204" pitchFamily="34" charset="0"/>
                <a:cs typeface="Arial" panose="020B0604020202020204" pitchFamily="34" charset="0"/>
              </a:rPr>
              <a:t>											</a:t>
            </a:r>
            <a:br>
              <a:rPr lang="fr-FR" sz="1600" dirty="0">
                <a:latin typeface="Arial" panose="020B0604020202020204" pitchFamily="34" charset="0"/>
                <a:cs typeface="Arial" panose="020B0604020202020204" pitchFamily="34" charset="0"/>
              </a:rPr>
            </a:br>
            <a:endParaRPr lang="fr-FR"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613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A0D87AF-952E-0861-A636-5781B8548FC6}"/>
              </a:ext>
            </a:extLst>
          </p:cNvPr>
          <p:cNvSpPr txBox="1"/>
          <p:nvPr/>
        </p:nvSpPr>
        <p:spPr>
          <a:xfrm>
            <a:off x="809152" y="314425"/>
            <a:ext cx="4991101" cy="523220"/>
          </a:xfrm>
          <a:prstGeom prst="rect">
            <a:avLst/>
          </a:prstGeom>
          <a:noFill/>
        </p:spPr>
        <p:txBody>
          <a:bodyPr wrap="square" rtlCol="0">
            <a:spAutoFit/>
          </a:bodyPr>
          <a:lstStyle/>
          <a:p>
            <a:pPr marL="514350" indent="-514350">
              <a:buFont typeface="+mj-lt"/>
              <a:buAutoNum type="arabicPeriod"/>
            </a:pPr>
            <a:r>
              <a:rPr lang="fr-FR" sz="2800" b="1" dirty="0">
                <a:solidFill>
                  <a:srgbClr val="C00000"/>
                </a:solidFill>
                <a:latin typeface="Arial" panose="020B0604020202020204" pitchFamily="34" charset="0"/>
                <a:cs typeface="Arial" panose="020B0604020202020204" pitchFamily="34" charset="0"/>
              </a:rPr>
              <a:t>Contexte du projet </a:t>
            </a:r>
          </a:p>
        </p:txBody>
      </p:sp>
      <p:sp>
        <p:nvSpPr>
          <p:cNvPr id="2" name="ZoneTexte 1">
            <a:extLst>
              <a:ext uri="{FF2B5EF4-FFF2-40B4-BE49-F238E27FC236}">
                <a16:creationId xmlns:a16="http://schemas.microsoft.com/office/drawing/2014/main" id="{F73FDC43-5492-DD55-3E59-4E2E7F03163B}"/>
              </a:ext>
            </a:extLst>
          </p:cNvPr>
          <p:cNvSpPr txBox="1"/>
          <p:nvPr/>
        </p:nvSpPr>
        <p:spPr>
          <a:xfrm>
            <a:off x="495450" y="1744023"/>
            <a:ext cx="11201099" cy="2708434"/>
          </a:xfrm>
          <a:prstGeom prst="rect">
            <a:avLst/>
          </a:prstGeom>
          <a:noFill/>
        </p:spPr>
        <p:txBody>
          <a:bodyPr wrap="square" rtlCol="0">
            <a:spAutoFit/>
          </a:bodyPr>
          <a:lstStyle/>
          <a:p>
            <a:pPr algn="l" fontAlgn="base">
              <a:lnSpc>
                <a:spcPts val="1650"/>
              </a:lnSpc>
              <a:spcBef>
                <a:spcPts val="750"/>
              </a:spcBef>
              <a:spcAft>
                <a:spcPts val="900"/>
              </a:spcAft>
              <a:buNone/>
            </a:pPr>
            <a:r>
              <a:rPr lang="fr-FR" b="1" dirty="0">
                <a:latin typeface="Arial" panose="020B0604020202020204" pitchFamily="34" charset="0"/>
                <a:cs typeface="Arial" panose="020B0604020202020204" pitchFamily="34" charset="0"/>
              </a:rPr>
              <a:t>La viande de volaille est la plus produite et consommée au monde en 2022 (139 Mt), devant la viande porcine (123 Mt) et bovine (76 Mt). Elle affiche la plus forte croissance depuis 2000 (+3,3 %/an).</a:t>
            </a:r>
            <a:br>
              <a:rPr lang="fr-FR" b="1" dirty="0">
                <a:latin typeface="Arial" panose="020B0604020202020204" pitchFamily="34" charset="0"/>
                <a:cs typeface="Arial" panose="020B0604020202020204" pitchFamily="34" charset="0"/>
              </a:rPr>
            </a:b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Le poulet représente 90 % de la production mondiale de volaille, contre environ 4 % pour la dinde et le canard.</a:t>
            </a:r>
            <a:br>
              <a:rPr lang="fr-FR" dirty="0">
                <a:latin typeface="Arial" panose="020B0604020202020204" pitchFamily="34" charset="0"/>
                <a:cs typeface="Arial" panose="020B0604020202020204" pitchFamily="34" charset="0"/>
              </a:rPr>
            </a:b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Le succès de la volaille repose sur son prix abordable, l'absence d’interdits religieux et une production facile à développer.</a:t>
            </a:r>
            <a:br>
              <a:rPr lang="fr-FR" dirty="0">
                <a:latin typeface="Arial" panose="020B0604020202020204" pitchFamily="34" charset="0"/>
                <a:cs typeface="Arial" panose="020B0604020202020204" pitchFamily="34" charset="0"/>
              </a:rPr>
            </a:br>
            <a:br>
              <a:rPr lang="fr-FR" dirty="0">
                <a:latin typeface="Arial" panose="020B0604020202020204" pitchFamily="34" charset="0"/>
                <a:cs typeface="Arial" panose="020B0604020202020204" pitchFamily="34" charset="0"/>
              </a:rPr>
            </a:br>
            <a:r>
              <a:rPr lang="fr-FR" b="1" dirty="0">
                <a:latin typeface="Arial" panose="020B0604020202020204" pitchFamily="34" charset="0"/>
                <a:cs typeface="Arial" panose="020B0604020202020204" pitchFamily="34" charset="0"/>
              </a:rPr>
              <a:t>En 2022, les principaux producteurs sont :</a:t>
            </a:r>
            <a:br>
              <a:rPr lang="fr-FR" b="1" dirty="0">
                <a:latin typeface="Arial" panose="020B0604020202020204" pitchFamily="34" charset="0"/>
                <a:cs typeface="Arial" panose="020B0604020202020204" pitchFamily="34" charset="0"/>
              </a:rPr>
            </a:b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États-Unis (22,8 Mt), Chine (21,8 Mt), Brésil (14,8 Mt) et UE (13,7 Mt).</a:t>
            </a:r>
          </a:p>
        </p:txBody>
      </p:sp>
    </p:spTree>
    <p:extLst>
      <p:ext uri="{BB962C8B-B14F-4D97-AF65-F5344CB8AC3E}">
        <p14:creationId xmlns:p14="http://schemas.microsoft.com/office/powerpoint/2010/main" val="2430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B708350-C73C-9441-BF24-2B742014840A}"/>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2"/>
            </a:pPr>
            <a:r>
              <a:rPr lang="fr-FR" sz="2800" b="1" dirty="0">
                <a:solidFill>
                  <a:srgbClr val="C00000"/>
                </a:solidFill>
                <a:latin typeface="Arial" panose="020B0604020202020204" pitchFamily="34" charset="0"/>
                <a:cs typeface="Arial" panose="020B0604020202020204" pitchFamily="34" charset="0"/>
              </a:rPr>
              <a:t>Sources et préparation des données</a:t>
            </a:r>
          </a:p>
        </p:txBody>
      </p:sp>
      <p:pic>
        <p:nvPicPr>
          <p:cNvPr id="1026" name="Picture 2">
            <a:extLst>
              <a:ext uri="{FF2B5EF4-FFF2-40B4-BE49-F238E27FC236}">
                <a16:creationId xmlns:a16="http://schemas.microsoft.com/office/drawing/2014/main" id="{D2230EF5-BF02-D56C-C293-89BC3DFFE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5880" y="3374559"/>
            <a:ext cx="1137063" cy="11370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1F9BBBB-D172-CF34-A219-47DC9E048F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363" y="2886528"/>
            <a:ext cx="722447" cy="72244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necteur droit avec flèche 5">
            <a:extLst>
              <a:ext uri="{FF2B5EF4-FFF2-40B4-BE49-F238E27FC236}">
                <a16:creationId xmlns:a16="http://schemas.microsoft.com/office/drawing/2014/main" id="{0C29DB83-8052-B5C3-2640-76EE769CBC96}"/>
              </a:ext>
            </a:extLst>
          </p:cNvPr>
          <p:cNvCxnSpPr>
            <a:cxnSpLocks/>
          </p:cNvCxnSpPr>
          <p:nvPr/>
        </p:nvCxnSpPr>
        <p:spPr>
          <a:xfrm flipV="1">
            <a:off x="3067514" y="3374559"/>
            <a:ext cx="521260" cy="3032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Connecteur droit avec flèche 7">
            <a:extLst>
              <a:ext uri="{FF2B5EF4-FFF2-40B4-BE49-F238E27FC236}">
                <a16:creationId xmlns:a16="http://schemas.microsoft.com/office/drawing/2014/main" id="{630A0708-0E3B-28EB-0078-A30F9056E861}"/>
              </a:ext>
            </a:extLst>
          </p:cNvPr>
          <p:cNvCxnSpPr>
            <a:cxnSpLocks/>
          </p:cNvCxnSpPr>
          <p:nvPr/>
        </p:nvCxnSpPr>
        <p:spPr>
          <a:xfrm flipV="1">
            <a:off x="3137310" y="3971320"/>
            <a:ext cx="628445" cy="78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 name="Picture 4">
            <a:extLst>
              <a:ext uri="{FF2B5EF4-FFF2-40B4-BE49-F238E27FC236}">
                <a16:creationId xmlns:a16="http://schemas.microsoft.com/office/drawing/2014/main" id="{AE0F4030-9C02-C9E1-96DE-80D72D8D5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3344" y="3668204"/>
            <a:ext cx="726031" cy="726031"/>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27ECAC78-E74B-508D-7E2F-1061A0AD0144}"/>
              </a:ext>
            </a:extLst>
          </p:cNvPr>
          <p:cNvSpPr txBox="1"/>
          <p:nvPr/>
        </p:nvSpPr>
        <p:spPr>
          <a:xfrm>
            <a:off x="4277033" y="3121223"/>
            <a:ext cx="2447637"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Population_2000_2018.csv</a:t>
            </a:r>
          </a:p>
        </p:txBody>
      </p:sp>
      <p:sp>
        <p:nvSpPr>
          <p:cNvPr id="12" name="ZoneTexte 11">
            <a:extLst>
              <a:ext uri="{FF2B5EF4-FFF2-40B4-BE49-F238E27FC236}">
                <a16:creationId xmlns:a16="http://schemas.microsoft.com/office/drawing/2014/main" id="{23B9656B-5172-9833-9D87-6B11A3F3D1FD}"/>
              </a:ext>
            </a:extLst>
          </p:cNvPr>
          <p:cNvSpPr txBox="1"/>
          <p:nvPr/>
        </p:nvSpPr>
        <p:spPr>
          <a:xfrm>
            <a:off x="4519375" y="3937030"/>
            <a:ext cx="3624960"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DiposnibiliteAlimentaire_2017.csv</a:t>
            </a:r>
          </a:p>
        </p:txBody>
      </p:sp>
      <p:cxnSp>
        <p:nvCxnSpPr>
          <p:cNvPr id="13" name="Connecteur droit avec flèche 12">
            <a:extLst>
              <a:ext uri="{FF2B5EF4-FFF2-40B4-BE49-F238E27FC236}">
                <a16:creationId xmlns:a16="http://schemas.microsoft.com/office/drawing/2014/main" id="{F224F52C-9213-519A-41C0-910C4C54ECB6}"/>
              </a:ext>
            </a:extLst>
          </p:cNvPr>
          <p:cNvCxnSpPr>
            <a:cxnSpLocks/>
          </p:cNvCxnSpPr>
          <p:nvPr/>
        </p:nvCxnSpPr>
        <p:spPr>
          <a:xfrm>
            <a:off x="3137310" y="4244807"/>
            <a:ext cx="451464" cy="2961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030" name="Picture 6">
            <a:extLst>
              <a:ext uri="{FF2B5EF4-FFF2-40B4-BE49-F238E27FC236}">
                <a16:creationId xmlns:a16="http://schemas.microsoft.com/office/drawing/2014/main" id="{DB380275-2427-0F7B-1ED3-8FEF5A21E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9431" y="4392893"/>
            <a:ext cx="467769" cy="459578"/>
          </a:xfrm>
          <a:prstGeom prst="rect">
            <a:avLst/>
          </a:prstGeom>
          <a:noFill/>
          <a:extLst>
            <a:ext uri="{909E8E84-426E-40DD-AFC4-6F175D3DCCD1}">
              <a14:hiddenFill xmlns:a14="http://schemas.microsoft.com/office/drawing/2010/main">
                <a:solidFill>
                  <a:srgbClr val="FFFFFF"/>
                </a:solidFill>
              </a14:hiddenFill>
            </a:ext>
          </a:extLst>
        </p:spPr>
      </p:pic>
      <p:sp>
        <p:nvSpPr>
          <p:cNvPr id="17" name="ZoneTexte 16">
            <a:extLst>
              <a:ext uri="{FF2B5EF4-FFF2-40B4-BE49-F238E27FC236}">
                <a16:creationId xmlns:a16="http://schemas.microsoft.com/office/drawing/2014/main" id="{C58D3D70-9E3E-76D0-BB93-F6E4B5845629}"/>
              </a:ext>
            </a:extLst>
          </p:cNvPr>
          <p:cNvSpPr txBox="1"/>
          <p:nvPr/>
        </p:nvSpPr>
        <p:spPr>
          <a:xfrm>
            <a:off x="4370809" y="4511622"/>
            <a:ext cx="1921133"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FAO – PIB 2017</a:t>
            </a:r>
          </a:p>
        </p:txBody>
      </p:sp>
    </p:spTree>
    <p:extLst>
      <p:ext uri="{BB962C8B-B14F-4D97-AF65-F5344CB8AC3E}">
        <p14:creationId xmlns:p14="http://schemas.microsoft.com/office/powerpoint/2010/main" val="410898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509ACAD-9CBE-574C-9F2A-9C1C92F54784}"/>
              </a:ext>
            </a:extLst>
          </p:cNvPr>
          <p:cNvSpPr txBox="1"/>
          <p:nvPr/>
        </p:nvSpPr>
        <p:spPr>
          <a:xfrm>
            <a:off x="411988" y="190184"/>
            <a:ext cx="7420448" cy="400110"/>
          </a:xfrm>
          <a:prstGeom prst="rect">
            <a:avLst/>
          </a:prstGeom>
          <a:noFill/>
        </p:spPr>
        <p:txBody>
          <a:bodyPr wrap="square" rtlCol="0">
            <a:spAutoFit/>
          </a:bodyPr>
          <a:lstStyle/>
          <a:p>
            <a:r>
              <a:rPr lang="fr-FR" sz="2000" b="1" dirty="0">
                <a:solidFill>
                  <a:srgbClr val="C00000"/>
                </a:solidFill>
                <a:latin typeface="Arial" panose="020B0604020202020204" pitchFamily="34" charset="0"/>
                <a:cs typeface="Arial" panose="020B0604020202020204" pitchFamily="34" charset="0"/>
              </a:rPr>
              <a:t>Quelques analyses… </a:t>
            </a:r>
          </a:p>
        </p:txBody>
      </p:sp>
      <p:sp>
        <p:nvSpPr>
          <p:cNvPr id="3" name="Rectangle 2">
            <a:extLst>
              <a:ext uri="{FF2B5EF4-FFF2-40B4-BE49-F238E27FC236}">
                <a16:creationId xmlns:a16="http://schemas.microsoft.com/office/drawing/2014/main" id="{0D10DD2F-1218-F7DF-7751-4F17302D0672}"/>
              </a:ext>
            </a:extLst>
          </p:cNvPr>
          <p:cNvSpPr/>
          <p:nvPr/>
        </p:nvSpPr>
        <p:spPr>
          <a:xfrm>
            <a:off x="592337" y="1681018"/>
            <a:ext cx="830063" cy="128385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accent1">
                  <a:lumMod val="75000"/>
                </a:schemeClr>
              </a:solidFill>
            </a:endParaRPr>
          </a:p>
        </p:txBody>
      </p:sp>
      <p:sp>
        <p:nvSpPr>
          <p:cNvPr id="4" name="Rectangle 3">
            <a:extLst>
              <a:ext uri="{FF2B5EF4-FFF2-40B4-BE49-F238E27FC236}">
                <a16:creationId xmlns:a16="http://schemas.microsoft.com/office/drawing/2014/main" id="{06FE0862-3DE0-56CF-30BC-13560DEE0B94}"/>
              </a:ext>
            </a:extLst>
          </p:cNvPr>
          <p:cNvSpPr/>
          <p:nvPr/>
        </p:nvSpPr>
        <p:spPr>
          <a:xfrm>
            <a:off x="1437676" y="2063744"/>
            <a:ext cx="830063" cy="90516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BD929395-DB11-0EFC-3AB2-4EAFCA451E81}"/>
              </a:ext>
            </a:extLst>
          </p:cNvPr>
          <p:cNvSpPr/>
          <p:nvPr/>
        </p:nvSpPr>
        <p:spPr>
          <a:xfrm>
            <a:off x="2250027" y="2408130"/>
            <a:ext cx="788527" cy="56341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9B8AF33F-B77B-154E-15DA-B5B582F1CD88}"/>
              </a:ext>
            </a:extLst>
          </p:cNvPr>
          <p:cNvSpPr txBox="1"/>
          <p:nvPr/>
        </p:nvSpPr>
        <p:spPr>
          <a:xfrm>
            <a:off x="646282" y="2991984"/>
            <a:ext cx="897929"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Brésil</a:t>
            </a:r>
          </a:p>
        </p:txBody>
      </p:sp>
      <p:sp>
        <p:nvSpPr>
          <p:cNvPr id="8" name="ZoneTexte 7">
            <a:extLst>
              <a:ext uri="{FF2B5EF4-FFF2-40B4-BE49-F238E27FC236}">
                <a16:creationId xmlns:a16="http://schemas.microsoft.com/office/drawing/2014/main" id="{A8AB243A-9811-990B-4E39-8959D5560CF3}"/>
              </a:ext>
            </a:extLst>
          </p:cNvPr>
          <p:cNvSpPr txBox="1"/>
          <p:nvPr/>
        </p:nvSpPr>
        <p:spPr>
          <a:xfrm>
            <a:off x="1486554" y="2987492"/>
            <a:ext cx="897929" cy="307777"/>
          </a:xfrm>
          <a:prstGeom prst="rect">
            <a:avLst/>
          </a:prstGeom>
          <a:noFill/>
        </p:spPr>
        <p:txBody>
          <a:bodyPr wrap="square" rtlCol="0">
            <a:spAutoFit/>
          </a:bodyPr>
          <a:lstStyle/>
          <a:p>
            <a:r>
              <a:rPr lang="fr-FR" sz="1400" b="1" dirty="0">
                <a:solidFill>
                  <a:schemeClr val="accent4">
                    <a:lumMod val="75000"/>
                  </a:schemeClr>
                </a:solidFill>
                <a:latin typeface="Arial" panose="020B0604020202020204" pitchFamily="34" charset="0"/>
                <a:cs typeface="Arial" panose="020B0604020202020204" pitchFamily="34" charset="0"/>
              </a:rPr>
              <a:t>USA</a:t>
            </a:r>
          </a:p>
        </p:txBody>
      </p:sp>
      <p:sp>
        <p:nvSpPr>
          <p:cNvPr id="9" name="ZoneTexte 8">
            <a:extLst>
              <a:ext uri="{FF2B5EF4-FFF2-40B4-BE49-F238E27FC236}">
                <a16:creationId xmlns:a16="http://schemas.microsoft.com/office/drawing/2014/main" id="{210125E4-6817-1239-1060-1FD3806C0688}"/>
              </a:ext>
            </a:extLst>
          </p:cNvPr>
          <p:cNvSpPr txBox="1"/>
          <p:nvPr/>
        </p:nvSpPr>
        <p:spPr>
          <a:xfrm>
            <a:off x="2145829" y="3000354"/>
            <a:ext cx="1078926"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Pays-Bas</a:t>
            </a:r>
          </a:p>
        </p:txBody>
      </p:sp>
      <p:sp>
        <p:nvSpPr>
          <p:cNvPr id="10" name="ZoneTexte 9">
            <a:extLst>
              <a:ext uri="{FF2B5EF4-FFF2-40B4-BE49-F238E27FC236}">
                <a16:creationId xmlns:a16="http://schemas.microsoft.com/office/drawing/2014/main" id="{8C34B165-4847-32D0-F44E-D3176112B337}"/>
              </a:ext>
            </a:extLst>
          </p:cNvPr>
          <p:cNvSpPr txBox="1"/>
          <p:nvPr/>
        </p:nvSpPr>
        <p:spPr>
          <a:xfrm>
            <a:off x="587464" y="2081842"/>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4.223 MT</a:t>
            </a:r>
          </a:p>
        </p:txBody>
      </p:sp>
      <p:sp>
        <p:nvSpPr>
          <p:cNvPr id="12" name="ZoneTexte 11">
            <a:extLst>
              <a:ext uri="{FF2B5EF4-FFF2-40B4-BE49-F238E27FC236}">
                <a16:creationId xmlns:a16="http://schemas.microsoft.com/office/drawing/2014/main" id="{733DC481-ABA1-27DD-4166-AD61390DD035}"/>
              </a:ext>
            </a:extLst>
          </p:cNvPr>
          <p:cNvSpPr txBox="1"/>
          <p:nvPr/>
        </p:nvSpPr>
        <p:spPr>
          <a:xfrm>
            <a:off x="1437676" y="2323886"/>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3.692 MT</a:t>
            </a:r>
          </a:p>
        </p:txBody>
      </p:sp>
      <p:sp>
        <p:nvSpPr>
          <p:cNvPr id="13" name="ZoneTexte 12">
            <a:extLst>
              <a:ext uri="{FF2B5EF4-FFF2-40B4-BE49-F238E27FC236}">
                <a16:creationId xmlns:a16="http://schemas.microsoft.com/office/drawing/2014/main" id="{81427495-ED3F-DF66-FE09-0E5CB94D1680}"/>
              </a:ext>
            </a:extLst>
          </p:cNvPr>
          <p:cNvSpPr txBox="1"/>
          <p:nvPr/>
        </p:nvSpPr>
        <p:spPr>
          <a:xfrm>
            <a:off x="2234172" y="2540044"/>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1.418 MT</a:t>
            </a:r>
          </a:p>
        </p:txBody>
      </p:sp>
      <p:sp>
        <p:nvSpPr>
          <p:cNvPr id="14" name="Rectangle : coins arrondis 13">
            <a:extLst>
              <a:ext uri="{FF2B5EF4-FFF2-40B4-BE49-F238E27FC236}">
                <a16:creationId xmlns:a16="http://schemas.microsoft.com/office/drawing/2014/main" id="{26778CB8-B2EF-7638-EEDC-F2DC981BFA49}"/>
              </a:ext>
            </a:extLst>
          </p:cNvPr>
          <p:cNvSpPr/>
          <p:nvPr/>
        </p:nvSpPr>
        <p:spPr>
          <a:xfrm>
            <a:off x="260437" y="958832"/>
            <a:ext cx="5291277" cy="354164"/>
          </a:xfrm>
          <a:prstGeom prst="roundRect">
            <a:avLst/>
          </a:prstGeom>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sz="1400" dirty="0">
              <a:latin typeface="Arial" panose="020B0604020202020204" pitchFamily="34" charset="0"/>
              <a:cs typeface="Arial" panose="020B0604020202020204" pitchFamily="34" charset="0"/>
            </a:endParaRPr>
          </a:p>
          <a:p>
            <a:pPr algn="ctr"/>
            <a:r>
              <a:rPr lang="fr-FR" dirty="0">
                <a:latin typeface="Arial" panose="020B0604020202020204" pitchFamily="34" charset="0"/>
                <a:cs typeface="Arial" panose="020B0604020202020204" pitchFamily="34" charset="0"/>
              </a:rPr>
              <a:t>Top 3 Zones en exportation de volaille en 2017 </a:t>
            </a:r>
            <a:r>
              <a:rPr lang="fr-FR" sz="1400" dirty="0">
                <a:latin typeface="Arial" panose="020B0604020202020204" pitchFamily="34" charset="0"/>
                <a:cs typeface="Arial" panose="020B0604020202020204" pitchFamily="34" charset="0"/>
              </a:rPr>
              <a:t>	</a:t>
            </a:r>
          </a:p>
        </p:txBody>
      </p:sp>
      <p:sp>
        <p:nvSpPr>
          <p:cNvPr id="7" name="Rectangle : coins arrondis 6">
            <a:extLst>
              <a:ext uri="{FF2B5EF4-FFF2-40B4-BE49-F238E27FC236}">
                <a16:creationId xmlns:a16="http://schemas.microsoft.com/office/drawing/2014/main" id="{650D50DE-8702-AAED-74CC-0C011B52EAB0}"/>
              </a:ext>
            </a:extLst>
          </p:cNvPr>
          <p:cNvSpPr/>
          <p:nvPr/>
        </p:nvSpPr>
        <p:spPr>
          <a:xfrm>
            <a:off x="6062602" y="911645"/>
            <a:ext cx="5291277" cy="400110"/>
          </a:xfrm>
          <a:prstGeom prst="roundRect">
            <a:avLst/>
          </a:prstGeom>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dirty="0">
              <a:latin typeface="Arial" panose="020B0604020202020204" pitchFamily="34" charset="0"/>
              <a:cs typeface="Arial" panose="020B0604020202020204" pitchFamily="34" charset="0"/>
            </a:endParaRPr>
          </a:p>
          <a:p>
            <a:pPr algn="ctr"/>
            <a:r>
              <a:rPr lang="fr-FR" dirty="0">
                <a:latin typeface="Arial" panose="020B0604020202020204" pitchFamily="34" charset="0"/>
                <a:cs typeface="Arial" panose="020B0604020202020204" pitchFamily="34" charset="0"/>
              </a:rPr>
              <a:t>Top 3 Zones en importation de volaille en 2017 </a:t>
            </a:r>
            <a:r>
              <a:rPr lang="fr-FR" sz="1400" dirty="0">
                <a:latin typeface="Arial" panose="020B0604020202020204" pitchFamily="34" charset="0"/>
                <a:cs typeface="Arial" panose="020B0604020202020204" pitchFamily="34" charset="0"/>
              </a:rPr>
              <a:t>	</a:t>
            </a:r>
          </a:p>
        </p:txBody>
      </p:sp>
      <p:sp>
        <p:nvSpPr>
          <p:cNvPr id="11" name="Rectangle 10">
            <a:extLst>
              <a:ext uri="{FF2B5EF4-FFF2-40B4-BE49-F238E27FC236}">
                <a16:creationId xmlns:a16="http://schemas.microsoft.com/office/drawing/2014/main" id="{68B4CD0F-B103-A791-5824-D4BD94C90A26}"/>
              </a:ext>
            </a:extLst>
          </p:cNvPr>
          <p:cNvSpPr/>
          <p:nvPr/>
        </p:nvSpPr>
        <p:spPr>
          <a:xfrm>
            <a:off x="6783655" y="1681016"/>
            <a:ext cx="898031" cy="1283855"/>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14">
            <a:extLst>
              <a:ext uri="{FF2B5EF4-FFF2-40B4-BE49-F238E27FC236}">
                <a16:creationId xmlns:a16="http://schemas.microsoft.com/office/drawing/2014/main" id="{D4BB111B-755C-0B23-3C5A-9C3A6270DE71}"/>
              </a:ext>
            </a:extLst>
          </p:cNvPr>
          <p:cNvSpPr/>
          <p:nvPr/>
        </p:nvSpPr>
        <p:spPr>
          <a:xfrm>
            <a:off x="7681686" y="2059708"/>
            <a:ext cx="885507" cy="905163"/>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C25EAB28-2544-2F0D-3C57-ACF2662D3311}"/>
              </a:ext>
            </a:extLst>
          </p:cNvPr>
          <p:cNvSpPr/>
          <p:nvPr/>
        </p:nvSpPr>
        <p:spPr>
          <a:xfrm>
            <a:off x="8567193" y="2408130"/>
            <a:ext cx="801788" cy="563416"/>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81B174C1-9BE5-06C3-6F70-174BE0657C74}"/>
              </a:ext>
            </a:extLst>
          </p:cNvPr>
          <p:cNvSpPr txBox="1"/>
          <p:nvPr/>
        </p:nvSpPr>
        <p:spPr>
          <a:xfrm>
            <a:off x="6746787" y="2122742"/>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1.069 MT</a:t>
            </a:r>
          </a:p>
        </p:txBody>
      </p:sp>
      <p:sp>
        <p:nvSpPr>
          <p:cNvPr id="19" name="ZoneTexte 18">
            <a:extLst>
              <a:ext uri="{FF2B5EF4-FFF2-40B4-BE49-F238E27FC236}">
                <a16:creationId xmlns:a16="http://schemas.microsoft.com/office/drawing/2014/main" id="{2125B0B4-7E10-F3D7-3B59-08C6B2FFD4AB}"/>
              </a:ext>
            </a:extLst>
          </p:cNvPr>
          <p:cNvSpPr txBox="1"/>
          <p:nvPr/>
        </p:nvSpPr>
        <p:spPr>
          <a:xfrm>
            <a:off x="7736475" y="2302576"/>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972 MT</a:t>
            </a:r>
          </a:p>
        </p:txBody>
      </p:sp>
      <p:sp>
        <p:nvSpPr>
          <p:cNvPr id="20" name="ZoneTexte 19">
            <a:extLst>
              <a:ext uri="{FF2B5EF4-FFF2-40B4-BE49-F238E27FC236}">
                <a16:creationId xmlns:a16="http://schemas.microsoft.com/office/drawing/2014/main" id="{E891CFFB-A574-9613-C832-133A911A0C65}"/>
              </a:ext>
            </a:extLst>
          </p:cNvPr>
          <p:cNvSpPr txBox="1"/>
          <p:nvPr/>
        </p:nvSpPr>
        <p:spPr>
          <a:xfrm>
            <a:off x="8639943" y="2578561"/>
            <a:ext cx="971766" cy="276999"/>
          </a:xfrm>
          <a:prstGeom prst="rect">
            <a:avLst/>
          </a:prstGeom>
          <a:noFill/>
        </p:spPr>
        <p:txBody>
          <a:bodyPr wrap="square" rtlCol="0">
            <a:spAutoFit/>
          </a:bodyPr>
          <a:lstStyle/>
          <a:p>
            <a:r>
              <a:rPr lang="fr-FR" sz="1200" b="1" dirty="0">
                <a:solidFill>
                  <a:schemeClr val="bg1"/>
                </a:solidFill>
                <a:latin typeface="Arial" panose="020B0604020202020204" pitchFamily="34" charset="0"/>
                <a:cs typeface="Arial" panose="020B0604020202020204" pitchFamily="34" charset="0"/>
              </a:rPr>
              <a:t>907 MT</a:t>
            </a:r>
          </a:p>
        </p:txBody>
      </p:sp>
      <p:sp>
        <p:nvSpPr>
          <p:cNvPr id="21" name="ZoneTexte 20">
            <a:extLst>
              <a:ext uri="{FF2B5EF4-FFF2-40B4-BE49-F238E27FC236}">
                <a16:creationId xmlns:a16="http://schemas.microsoft.com/office/drawing/2014/main" id="{195B43AB-0B5F-BCAF-7EB9-F6BB7618F8F2}"/>
              </a:ext>
            </a:extLst>
          </p:cNvPr>
          <p:cNvSpPr txBox="1"/>
          <p:nvPr/>
        </p:nvSpPr>
        <p:spPr>
          <a:xfrm>
            <a:off x="6847048" y="3030318"/>
            <a:ext cx="897929" cy="307777"/>
          </a:xfrm>
          <a:prstGeom prst="rect">
            <a:avLst/>
          </a:prstGeom>
          <a:noFill/>
        </p:spPr>
        <p:txBody>
          <a:bodyPr wrap="square" rtlCol="0">
            <a:spAutoFit/>
          </a:bodyPr>
          <a:lstStyle/>
          <a:p>
            <a:r>
              <a:rPr lang="fr-FR" sz="1400" b="1" dirty="0">
                <a:solidFill>
                  <a:srgbClr val="7030A0"/>
                </a:solidFill>
                <a:latin typeface="Arial" panose="020B0604020202020204" pitchFamily="34" charset="0"/>
                <a:cs typeface="Arial" panose="020B0604020202020204" pitchFamily="34" charset="0"/>
              </a:rPr>
              <a:t>Japon</a:t>
            </a:r>
            <a:r>
              <a:rPr lang="fr-FR" sz="1400" b="1" dirty="0">
                <a:latin typeface="Arial" panose="020B0604020202020204" pitchFamily="34" charset="0"/>
                <a:cs typeface="Arial" panose="020B0604020202020204" pitchFamily="34" charset="0"/>
              </a:rPr>
              <a:t> </a:t>
            </a:r>
          </a:p>
        </p:txBody>
      </p:sp>
      <p:sp>
        <p:nvSpPr>
          <p:cNvPr id="22" name="ZoneTexte 21">
            <a:extLst>
              <a:ext uri="{FF2B5EF4-FFF2-40B4-BE49-F238E27FC236}">
                <a16:creationId xmlns:a16="http://schemas.microsoft.com/office/drawing/2014/main" id="{C89BC707-901A-5649-805E-AB29963BDDE3}"/>
              </a:ext>
            </a:extLst>
          </p:cNvPr>
          <p:cNvSpPr txBox="1"/>
          <p:nvPr/>
        </p:nvSpPr>
        <p:spPr>
          <a:xfrm>
            <a:off x="7655416" y="3006968"/>
            <a:ext cx="897929"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Mexique</a:t>
            </a:r>
          </a:p>
        </p:txBody>
      </p:sp>
      <p:sp>
        <p:nvSpPr>
          <p:cNvPr id="23" name="ZoneTexte 22">
            <a:extLst>
              <a:ext uri="{FF2B5EF4-FFF2-40B4-BE49-F238E27FC236}">
                <a16:creationId xmlns:a16="http://schemas.microsoft.com/office/drawing/2014/main" id="{0E2F3F0B-3805-4DCE-975D-8A4BA47FE499}"/>
              </a:ext>
            </a:extLst>
          </p:cNvPr>
          <p:cNvSpPr txBox="1"/>
          <p:nvPr/>
        </p:nvSpPr>
        <p:spPr>
          <a:xfrm>
            <a:off x="8567193" y="2986377"/>
            <a:ext cx="1201918" cy="523220"/>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Chine  </a:t>
            </a:r>
            <a:r>
              <a:rPr lang="fr-FR" sz="1400" b="1" dirty="0" err="1">
                <a:latin typeface="Arial" panose="020B0604020202020204" pitchFamily="34" charset="0"/>
                <a:cs typeface="Arial" panose="020B0604020202020204" pitchFamily="34" charset="0"/>
              </a:rPr>
              <a:t>Honk</a:t>
            </a:r>
            <a:r>
              <a:rPr lang="fr-FR" sz="1400" b="1" dirty="0">
                <a:latin typeface="Arial" panose="020B0604020202020204" pitchFamily="34" charset="0"/>
                <a:cs typeface="Arial" panose="020B0604020202020204" pitchFamily="34" charset="0"/>
              </a:rPr>
              <a:t> Kong</a:t>
            </a:r>
          </a:p>
        </p:txBody>
      </p:sp>
      <p:sp>
        <p:nvSpPr>
          <p:cNvPr id="24" name="Rectangle : coins arrondis 23">
            <a:extLst>
              <a:ext uri="{FF2B5EF4-FFF2-40B4-BE49-F238E27FC236}">
                <a16:creationId xmlns:a16="http://schemas.microsoft.com/office/drawing/2014/main" id="{ECF6279E-89F7-9833-FFF1-A7FAD2151077}"/>
              </a:ext>
            </a:extLst>
          </p:cNvPr>
          <p:cNvSpPr/>
          <p:nvPr/>
        </p:nvSpPr>
        <p:spPr>
          <a:xfrm>
            <a:off x="844747" y="4642926"/>
            <a:ext cx="5077082" cy="427565"/>
          </a:xfrm>
          <a:prstGeom prst="roundRect">
            <a:avLst/>
          </a:prstGeom>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fr-FR" dirty="0">
              <a:latin typeface="Arial" panose="020B0604020202020204" pitchFamily="34" charset="0"/>
              <a:cs typeface="Arial" panose="020B0604020202020204" pitchFamily="34" charset="0"/>
            </a:endParaRPr>
          </a:p>
          <a:p>
            <a:pPr algn="ctr"/>
            <a:r>
              <a:rPr lang="fr-FR" dirty="0">
                <a:latin typeface="Arial" panose="020B0604020202020204" pitchFamily="34" charset="0"/>
                <a:cs typeface="Arial" panose="020B0604020202020204" pitchFamily="34" charset="0"/>
              </a:rPr>
              <a:t>Top 5 pays avec le PIB le plus élevé en 2017 </a:t>
            </a:r>
          </a:p>
          <a:p>
            <a:pPr algn="ctr"/>
            <a:r>
              <a:rPr lang="fr-FR" sz="1400" dirty="0">
                <a:latin typeface="Arial" panose="020B0604020202020204" pitchFamily="34" charset="0"/>
                <a:cs typeface="Arial" panose="020B0604020202020204" pitchFamily="34" charset="0"/>
              </a:rPr>
              <a:t>	</a:t>
            </a:r>
          </a:p>
        </p:txBody>
      </p:sp>
      <p:sp>
        <p:nvSpPr>
          <p:cNvPr id="17" name="ZoneTexte 16">
            <a:extLst>
              <a:ext uri="{FF2B5EF4-FFF2-40B4-BE49-F238E27FC236}">
                <a16:creationId xmlns:a16="http://schemas.microsoft.com/office/drawing/2014/main" id="{20B25C06-A4D9-7C86-6FA1-7A289B70962E}"/>
              </a:ext>
            </a:extLst>
          </p:cNvPr>
          <p:cNvSpPr txBox="1"/>
          <p:nvPr/>
        </p:nvSpPr>
        <p:spPr>
          <a:xfrm>
            <a:off x="6587613" y="4273594"/>
            <a:ext cx="4355690" cy="369332"/>
          </a:xfrm>
          <a:prstGeom prst="rect">
            <a:avLst/>
          </a:prstGeom>
          <a:noFill/>
        </p:spPr>
        <p:txBody>
          <a:bodyPr wrap="square" rtlCol="0">
            <a:spAutoFit/>
          </a:bodyPr>
          <a:lstStyle/>
          <a:p>
            <a:r>
              <a:rPr lang="fr-FR" b="1" dirty="0">
                <a:solidFill>
                  <a:schemeClr val="accent4">
                    <a:lumMod val="75000"/>
                  </a:schemeClr>
                </a:solidFill>
              </a:rPr>
              <a:t>USA</a:t>
            </a:r>
            <a:r>
              <a:rPr lang="fr-FR" dirty="0"/>
              <a:t>		</a:t>
            </a:r>
            <a:r>
              <a:rPr lang="fr-FR" dirty="0">
                <a:solidFill>
                  <a:schemeClr val="accent4">
                    <a:lumMod val="75000"/>
                  </a:schemeClr>
                </a:solidFill>
              </a:rPr>
              <a:t>19.612.100</a:t>
            </a:r>
          </a:p>
        </p:txBody>
      </p:sp>
      <p:sp>
        <p:nvSpPr>
          <p:cNvPr id="40" name="ZoneTexte 39">
            <a:extLst>
              <a:ext uri="{FF2B5EF4-FFF2-40B4-BE49-F238E27FC236}">
                <a16:creationId xmlns:a16="http://schemas.microsoft.com/office/drawing/2014/main" id="{64BFCF20-2A6C-32D1-4783-10532B0691C4}"/>
              </a:ext>
            </a:extLst>
          </p:cNvPr>
          <p:cNvSpPr txBox="1"/>
          <p:nvPr/>
        </p:nvSpPr>
        <p:spPr>
          <a:xfrm>
            <a:off x="6587613" y="4731936"/>
            <a:ext cx="4355690" cy="369332"/>
          </a:xfrm>
          <a:prstGeom prst="rect">
            <a:avLst/>
          </a:prstGeom>
          <a:noFill/>
        </p:spPr>
        <p:txBody>
          <a:bodyPr wrap="square" rtlCol="0">
            <a:spAutoFit/>
          </a:bodyPr>
          <a:lstStyle/>
          <a:p>
            <a:r>
              <a:rPr lang="fr-FR" b="1" dirty="0"/>
              <a:t>Chine</a:t>
            </a:r>
            <a:r>
              <a:rPr lang="fr-FR" dirty="0"/>
              <a:t>		12.702.147 </a:t>
            </a:r>
          </a:p>
        </p:txBody>
      </p:sp>
      <p:sp>
        <p:nvSpPr>
          <p:cNvPr id="41" name="ZoneTexte 40">
            <a:extLst>
              <a:ext uri="{FF2B5EF4-FFF2-40B4-BE49-F238E27FC236}">
                <a16:creationId xmlns:a16="http://schemas.microsoft.com/office/drawing/2014/main" id="{6890608D-55E5-F3F5-AE8D-BA5E6DCACD63}"/>
              </a:ext>
            </a:extLst>
          </p:cNvPr>
          <p:cNvSpPr txBox="1"/>
          <p:nvPr/>
        </p:nvSpPr>
        <p:spPr>
          <a:xfrm>
            <a:off x="6587613" y="5688057"/>
            <a:ext cx="4355690" cy="369332"/>
          </a:xfrm>
          <a:prstGeom prst="rect">
            <a:avLst/>
          </a:prstGeom>
          <a:noFill/>
        </p:spPr>
        <p:txBody>
          <a:bodyPr wrap="square" rtlCol="0">
            <a:spAutoFit/>
          </a:bodyPr>
          <a:lstStyle/>
          <a:p>
            <a:r>
              <a:rPr lang="fr-FR" b="1" dirty="0">
                <a:solidFill>
                  <a:srgbClr val="7030A0"/>
                </a:solidFill>
              </a:rPr>
              <a:t>Japon</a:t>
            </a:r>
            <a:r>
              <a:rPr lang="fr-FR" dirty="0"/>
              <a:t>		</a:t>
            </a:r>
            <a:r>
              <a:rPr lang="fr-FR" dirty="0">
                <a:solidFill>
                  <a:srgbClr val="7030A0"/>
                </a:solidFill>
              </a:rPr>
              <a:t>4.930.837</a:t>
            </a:r>
            <a:r>
              <a:rPr lang="fr-FR" dirty="0"/>
              <a:t> </a:t>
            </a:r>
          </a:p>
        </p:txBody>
      </p:sp>
      <p:sp>
        <p:nvSpPr>
          <p:cNvPr id="42" name="ZoneTexte 41">
            <a:extLst>
              <a:ext uri="{FF2B5EF4-FFF2-40B4-BE49-F238E27FC236}">
                <a16:creationId xmlns:a16="http://schemas.microsoft.com/office/drawing/2014/main" id="{537BC4F4-5E5E-E5F2-7276-AAA19EC577A9}"/>
              </a:ext>
            </a:extLst>
          </p:cNvPr>
          <p:cNvSpPr txBox="1"/>
          <p:nvPr/>
        </p:nvSpPr>
        <p:spPr>
          <a:xfrm>
            <a:off x="6587613" y="5188598"/>
            <a:ext cx="4355690" cy="369332"/>
          </a:xfrm>
          <a:prstGeom prst="rect">
            <a:avLst/>
          </a:prstGeom>
          <a:noFill/>
        </p:spPr>
        <p:txBody>
          <a:bodyPr wrap="square" rtlCol="0">
            <a:spAutoFit/>
          </a:bodyPr>
          <a:lstStyle/>
          <a:p>
            <a:r>
              <a:rPr lang="fr-FR" b="1" dirty="0" err="1"/>
              <a:t>Chine,continentale</a:t>
            </a:r>
            <a:r>
              <a:rPr lang="fr-FR" dirty="0"/>
              <a:t>	12.310.492 </a:t>
            </a:r>
          </a:p>
        </p:txBody>
      </p:sp>
      <p:sp>
        <p:nvSpPr>
          <p:cNvPr id="43" name="ZoneTexte 42">
            <a:extLst>
              <a:ext uri="{FF2B5EF4-FFF2-40B4-BE49-F238E27FC236}">
                <a16:creationId xmlns:a16="http://schemas.microsoft.com/office/drawing/2014/main" id="{110E2D09-EF8A-A8EA-2B96-71C6B64384EF}"/>
              </a:ext>
            </a:extLst>
          </p:cNvPr>
          <p:cNvSpPr txBox="1"/>
          <p:nvPr/>
        </p:nvSpPr>
        <p:spPr>
          <a:xfrm>
            <a:off x="6587613" y="6187516"/>
            <a:ext cx="4355690" cy="369332"/>
          </a:xfrm>
          <a:prstGeom prst="rect">
            <a:avLst/>
          </a:prstGeom>
          <a:noFill/>
        </p:spPr>
        <p:txBody>
          <a:bodyPr wrap="square" rtlCol="0">
            <a:spAutoFit/>
          </a:bodyPr>
          <a:lstStyle/>
          <a:p>
            <a:r>
              <a:rPr lang="fr-FR" b="1" dirty="0"/>
              <a:t>Allemagne</a:t>
            </a:r>
            <a:r>
              <a:rPr lang="fr-FR" dirty="0"/>
              <a:t>	3.690.849 </a:t>
            </a:r>
          </a:p>
        </p:txBody>
      </p:sp>
      <p:cxnSp>
        <p:nvCxnSpPr>
          <p:cNvPr id="45" name="Connecteur droit 44">
            <a:extLst>
              <a:ext uri="{FF2B5EF4-FFF2-40B4-BE49-F238E27FC236}">
                <a16:creationId xmlns:a16="http://schemas.microsoft.com/office/drawing/2014/main" id="{82AC56AA-1114-9FD9-3E14-8CE5F7B890A8}"/>
              </a:ext>
            </a:extLst>
          </p:cNvPr>
          <p:cNvCxnSpPr>
            <a:cxnSpLocks/>
          </p:cNvCxnSpPr>
          <p:nvPr/>
        </p:nvCxnSpPr>
        <p:spPr>
          <a:xfrm>
            <a:off x="6459794" y="4642926"/>
            <a:ext cx="35592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E67910A5-901E-E42D-7434-F01B0A742BC0}"/>
              </a:ext>
            </a:extLst>
          </p:cNvPr>
          <p:cNvCxnSpPr>
            <a:cxnSpLocks/>
          </p:cNvCxnSpPr>
          <p:nvPr/>
        </p:nvCxnSpPr>
        <p:spPr>
          <a:xfrm>
            <a:off x="6459794" y="5164333"/>
            <a:ext cx="35592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880E3AC9-CB7E-B377-1F5B-9B7A1D5A8C59}"/>
              </a:ext>
            </a:extLst>
          </p:cNvPr>
          <p:cNvCxnSpPr>
            <a:cxnSpLocks/>
          </p:cNvCxnSpPr>
          <p:nvPr/>
        </p:nvCxnSpPr>
        <p:spPr>
          <a:xfrm>
            <a:off x="6459794" y="5665577"/>
            <a:ext cx="35592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necteur droit 48">
            <a:extLst>
              <a:ext uri="{FF2B5EF4-FFF2-40B4-BE49-F238E27FC236}">
                <a16:creationId xmlns:a16="http://schemas.microsoft.com/office/drawing/2014/main" id="{A0073825-83F8-5A23-64B6-2E3097F55197}"/>
              </a:ext>
            </a:extLst>
          </p:cNvPr>
          <p:cNvCxnSpPr>
            <a:cxnSpLocks/>
          </p:cNvCxnSpPr>
          <p:nvPr/>
        </p:nvCxnSpPr>
        <p:spPr>
          <a:xfrm>
            <a:off x="6442719" y="6187516"/>
            <a:ext cx="355927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177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B600C-A6AC-5D69-6617-CE56E9B6834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594605E-A42E-F845-8493-417C487D8A91}"/>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B2F24C97-A37C-33BF-C79C-95E6C359D0F3}"/>
              </a:ext>
            </a:extLst>
          </p:cNvPr>
          <p:cNvSpPr txBox="1"/>
          <p:nvPr/>
        </p:nvSpPr>
        <p:spPr>
          <a:xfrm>
            <a:off x="393290" y="12683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1. </a:t>
            </a:r>
            <a:r>
              <a:rPr lang="fr-FR" sz="2000" dirty="0">
                <a:solidFill>
                  <a:srgbClr val="271A38"/>
                </a:solidFill>
                <a:latin typeface="Arial" panose="020B0604020202020204" pitchFamily="34" charset="0"/>
                <a:cs typeface="Arial" panose="020B0604020202020204" pitchFamily="34" charset="0"/>
              </a:rPr>
              <a:t>L</a:t>
            </a:r>
            <a:r>
              <a:rPr lang="fr-FR" sz="2000" b="0" i="0" dirty="0">
                <a:solidFill>
                  <a:srgbClr val="271A38"/>
                </a:solidFill>
                <a:effectLst/>
                <a:latin typeface="Arial" panose="020B0604020202020204" pitchFamily="34" charset="0"/>
                <a:cs typeface="Arial" panose="020B0604020202020204" pitchFamily="34" charset="0"/>
              </a:rPr>
              <a:t>a classification ascendante hiérarchique (CAH), </a:t>
            </a:r>
            <a:endParaRPr lang="fr-FR" sz="2000" dirty="0">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9278AF2D-021F-1DFD-4803-65BCE11A023C}"/>
              </a:ext>
            </a:extLst>
          </p:cNvPr>
          <p:cNvSpPr txBox="1"/>
          <p:nvPr/>
        </p:nvSpPr>
        <p:spPr>
          <a:xfrm>
            <a:off x="555523" y="3717295"/>
            <a:ext cx="10776154" cy="1754326"/>
          </a:xfrm>
          <a:prstGeom prst="rect">
            <a:avLst/>
          </a:prstGeom>
          <a:noFill/>
        </p:spPr>
        <p:txBody>
          <a:bodyPr wrap="square" rtlCol="0">
            <a:spAutoFit/>
          </a:bodyPr>
          <a:lstStyle/>
          <a:p>
            <a:pPr>
              <a:buNone/>
            </a:pPr>
            <a:r>
              <a:rPr lang="fr-FR" b="1" dirty="0">
                <a:latin typeface="Arial" panose="020B0604020202020204" pitchFamily="34" charset="0"/>
                <a:cs typeface="Arial" panose="020B0604020202020204" pitchFamily="34" charset="0"/>
              </a:rPr>
              <a:t>📊 À quoi ça sert ?</a:t>
            </a:r>
          </a:p>
          <a:p>
            <a:pPr>
              <a:buNone/>
            </a:pPr>
            <a:endParaRPr lang="fr-FR" b="1"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 Regrouper des clients avec des comportements similaires.</a:t>
            </a:r>
          </a:p>
          <a:p>
            <a:pPr>
              <a:buFont typeface="Arial" panose="020B0604020202020204" pitchFamily="34" charset="0"/>
              <a:buChar char="•"/>
            </a:pPr>
            <a:r>
              <a:rPr lang="fr-FR" dirty="0">
                <a:latin typeface="Arial" panose="020B0604020202020204" pitchFamily="34" charset="0"/>
                <a:cs typeface="Arial" panose="020B0604020202020204" pitchFamily="34" charset="0"/>
              </a:rPr>
              <a:t> Segmenter des </a:t>
            </a:r>
            <a:r>
              <a:rPr lang="fr-FR" b="1" dirty="0">
                <a:latin typeface="Arial" panose="020B0604020202020204" pitchFamily="34" charset="0"/>
                <a:cs typeface="Arial" panose="020B0604020202020204" pitchFamily="34" charset="0"/>
              </a:rPr>
              <a:t>produits</a:t>
            </a:r>
            <a:r>
              <a:rPr lang="fr-FR" dirty="0">
                <a:latin typeface="Arial" panose="020B0604020202020204" pitchFamily="34" charset="0"/>
                <a:cs typeface="Arial" panose="020B0604020202020204" pitchFamily="34" charset="0"/>
              </a:rPr>
              <a:t> selon leurs caractéristiques.</a:t>
            </a:r>
          </a:p>
          <a:p>
            <a:pPr>
              <a:buFont typeface="Arial" panose="020B0604020202020204" pitchFamily="34" charset="0"/>
              <a:buChar char="•"/>
            </a:pPr>
            <a:r>
              <a:rPr lang="fr-FR" dirty="0">
                <a:latin typeface="Arial" panose="020B0604020202020204" pitchFamily="34" charset="0"/>
                <a:cs typeface="Arial" panose="020B0604020202020204" pitchFamily="34" charset="0"/>
              </a:rPr>
              <a:t> Réduire la dimension d’un problème en regroupant des variables similaires.</a:t>
            </a:r>
          </a:p>
          <a:p>
            <a:pPr>
              <a:buFont typeface="Arial" panose="020B0604020202020204" pitchFamily="34" charset="0"/>
              <a:buChar char="•"/>
            </a:pPr>
            <a:r>
              <a:rPr lang="fr-FR" dirty="0">
                <a:latin typeface="Arial" panose="020B0604020202020204" pitchFamily="34" charset="0"/>
                <a:cs typeface="Arial" panose="020B0604020202020204" pitchFamily="34" charset="0"/>
              </a:rPr>
              <a:t> Aider à </a:t>
            </a:r>
            <a:r>
              <a:rPr lang="fr-FR" b="1" dirty="0">
                <a:latin typeface="Arial" panose="020B0604020202020204" pitchFamily="34" charset="0"/>
                <a:cs typeface="Arial" panose="020B0604020202020204" pitchFamily="34" charset="0"/>
              </a:rPr>
              <a:t>choisir un nombre optimal de clusters</a:t>
            </a:r>
            <a:r>
              <a:rPr lang="fr-FR" dirty="0">
                <a:latin typeface="Arial" panose="020B0604020202020204" pitchFamily="34" charset="0"/>
                <a:cs typeface="Arial" panose="020B0604020202020204" pitchFamily="34" charset="0"/>
              </a:rPr>
              <a:t> (en coupant le dendrogramme à un certain niveau).</a:t>
            </a:r>
          </a:p>
        </p:txBody>
      </p:sp>
      <p:sp>
        <p:nvSpPr>
          <p:cNvPr id="5" name="ZoneTexte 4">
            <a:extLst>
              <a:ext uri="{FF2B5EF4-FFF2-40B4-BE49-F238E27FC236}">
                <a16:creationId xmlns:a16="http://schemas.microsoft.com/office/drawing/2014/main" id="{6B8DF688-03AF-EC7E-E4E3-375F704FE3B8}"/>
              </a:ext>
            </a:extLst>
          </p:cNvPr>
          <p:cNvSpPr txBox="1"/>
          <p:nvPr/>
        </p:nvSpPr>
        <p:spPr>
          <a:xfrm>
            <a:off x="471948" y="2099187"/>
            <a:ext cx="10776154" cy="1200329"/>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La </a:t>
            </a:r>
            <a:r>
              <a:rPr lang="fr-FR" b="1" dirty="0">
                <a:latin typeface="Arial" panose="020B0604020202020204" pitchFamily="34" charset="0"/>
                <a:cs typeface="Arial" panose="020B0604020202020204" pitchFamily="34" charset="0"/>
              </a:rPr>
              <a:t>Classification Ascendante Hiérarchique (CAH)</a:t>
            </a:r>
            <a:r>
              <a:rPr lang="fr-FR" dirty="0">
                <a:latin typeface="Arial" panose="020B0604020202020204" pitchFamily="34" charset="0"/>
                <a:cs typeface="Arial" panose="020B0604020202020204" pitchFamily="34" charset="0"/>
              </a:rPr>
              <a:t> est une méthode de </a:t>
            </a:r>
            <a:r>
              <a:rPr lang="fr-FR" b="1" dirty="0">
                <a:latin typeface="Arial" panose="020B0604020202020204" pitchFamily="34" charset="0"/>
                <a:cs typeface="Arial" panose="020B0604020202020204" pitchFamily="34" charset="0"/>
              </a:rPr>
              <a:t>clustering</a:t>
            </a:r>
            <a:r>
              <a:rPr lang="fr-FR" dirty="0">
                <a:latin typeface="Arial" panose="020B0604020202020204" pitchFamily="34" charset="0"/>
                <a:cs typeface="Arial" panose="020B0604020202020204" pitchFamily="34" charset="0"/>
              </a:rPr>
              <a:t> utilisée pour regrouper des individus ou des objets </a:t>
            </a:r>
            <a:r>
              <a:rPr lang="fr-FR" b="1" dirty="0">
                <a:latin typeface="Arial" panose="020B0604020202020204" pitchFamily="34" charset="0"/>
                <a:cs typeface="Arial" panose="020B0604020202020204" pitchFamily="34" charset="0"/>
              </a:rPr>
              <a:t>en fonction de leur similarité</a:t>
            </a:r>
            <a:r>
              <a:rPr lang="fr-FR" dirty="0">
                <a:latin typeface="Arial" panose="020B0604020202020204" pitchFamily="34" charset="0"/>
                <a:cs typeface="Arial" panose="020B0604020202020204" pitchFamily="34" charset="0"/>
              </a:rPr>
              <a:t>. Elle est dite "hiérarchique" car elle construit une </a:t>
            </a:r>
            <a:r>
              <a:rPr lang="fr-FR" b="1" dirty="0">
                <a:latin typeface="Arial" panose="020B0604020202020204" pitchFamily="34" charset="0"/>
                <a:cs typeface="Arial" panose="020B0604020202020204" pitchFamily="34" charset="0"/>
              </a:rPr>
              <a:t>hiérarchie de groupes (ou clusters)</a:t>
            </a:r>
            <a:r>
              <a:rPr lang="fr-FR" dirty="0">
                <a:latin typeface="Arial" panose="020B0604020202020204" pitchFamily="34" charset="0"/>
                <a:cs typeface="Arial" panose="020B0604020202020204" pitchFamily="34" charset="0"/>
              </a:rPr>
              <a:t>, et "ascendante" car elle commence par les éléments </a:t>
            </a:r>
            <a:r>
              <a:rPr lang="fr-FR" b="1" dirty="0">
                <a:latin typeface="Arial" panose="020B0604020202020204" pitchFamily="34" charset="0"/>
                <a:cs typeface="Arial" panose="020B0604020202020204" pitchFamily="34" charset="0"/>
              </a:rPr>
              <a:t>individuels</a:t>
            </a:r>
            <a:r>
              <a:rPr lang="fr-FR" dirty="0">
                <a:latin typeface="Arial" panose="020B0604020202020204" pitchFamily="34" charset="0"/>
                <a:cs typeface="Arial" panose="020B0604020202020204" pitchFamily="34" charset="0"/>
              </a:rPr>
              <a:t> pour progressivement les </a:t>
            </a:r>
            <a:r>
              <a:rPr lang="fr-FR" b="1" dirty="0">
                <a:latin typeface="Arial" panose="020B0604020202020204" pitchFamily="34" charset="0"/>
                <a:cs typeface="Arial" panose="020B0604020202020204" pitchFamily="34" charset="0"/>
              </a:rPr>
              <a:t>fusionner</a:t>
            </a:r>
            <a:r>
              <a:rPr lang="fr-FR"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79947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44A5FEB-3FA2-C115-CE33-28636C3601A4}"/>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157B67EB-58C5-E70B-95DC-19E7A0FDAD05}"/>
              </a:ext>
            </a:extLst>
          </p:cNvPr>
          <p:cNvSpPr txBox="1"/>
          <p:nvPr/>
        </p:nvSpPr>
        <p:spPr>
          <a:xfrm>
            <a:off x="393290" y="12683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1. </a:t>
            </a:r>
            <a:r>
              <a:rPr lang="fr-FR" sz="2000" dirty="0">
                <a:solidFill>
                  <a:srgbClr val="271A38"/>
                </a:solidFill>
                <a:latin typeface="Arial" panose="020B0604020202020204" pitchFamily="34" charset="0"/>
                <a:cs typeface="Arial" panose="020B0604020202020204" pitchFamily="34" charset="0"/>
              </a:rPr>
              <a:t>L</a:t>
            </a:r>
            <a:r>
              <a:rPr lang="fr-FR" sz="2000" b="0" i="0" dirty="0">
                <a:solidFill>
                  <a:srgbClr val="271A38"/>
                </a:solidFill>
                <a:effectLst/>
                <a:latin typeface="Arial" panose="020B0604020202020204" pitchFamily="34" charset="0"/>
                <a:cs typeface="Arial" panose="020B0604020202020204" pitchFamily="34" charset="0"/>
              </a:rPr>
              <a:t>a classification ascendante hiérarchique (CAH)</a:t>
            </a:r>
            <a:endParaRPr lang="fr-FR" sz="2000" dirty="0">
              <a:latin typeface="Arial" panose="020B060402020202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40373933-B643-93D0-9112-C5590FB1E296}"/>
              </a:ext>
            </a:extLst>
          </p:cNvPr>
          <p:cNvSpPr txBox="1"/>
          <p:nvPr/>
        </p:nvSpPr>
        <p:spPr>
          <a:xfrm>
            <a:off x="393290" y="2383168"/>
            <a:ext cx="9822426" cy="2308324"/>
          </a:xfrm>
          <a:prstGeom prst="rect">
            <a:avLst/>
          </a:prstGeom>
          <a:noFill/>
        </p:spPr>
        <p:txBody>
          <a:bodyPr wrap="square" rtlCol="0">
            <a:spAutoFit/>
          </a:bodyPr>
          <a:lstStyle/>
          <a:p>
            <a:pPr>
              <a:buNone/>
            </a:pPr>
            <a:r>
              <a:rPr lang="fr-FR" b="1" dirty="0">
                <a:latin typeface="Arial" panose="020B0604020202020204" pitchFamily="34" charset="0"/>
                <a:cs typeface="Arial" panose="020B0604020202020204" pitchFamily="34" charset="0"/>
              </a:rPr>
              <a:t>🔍 Principe de la CAH</a:t>
            </a:r>
            <a:br>
              <a:rPr lang="fr-FR" b="1" dirty="0">
                <a:latin typeface="Arial" panose="020B0604020202020204" pitchFamily="34" charset="0"/>
                <a:cs typeface="Arial" panose="020B0604020202020204" pitchFamily="34" charset="0"/>
              </a:rPr>
            </a:br>
            <a:endParaRPr lang="fr-FR" b="1"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 On commence par considérer chaque individu comme </a:t>
            </a:r>
            <a:r>
              <a:rPr lang="fr-FR" b="1" dirty="0">
                <a:latin typeface="Arial" panose="020B0604020202020204" pitchFamily="34" charset="0"/>
                <a:cs typeface="Arial" panose="020B0604020202020204" pitchFamily="34" charset="0"/>
              </a:rPr>
              <a:t>un groupe distinct</a:t>
            </a:r>
            <a:r>
              <a:rPr lang="fr-FR" dirty="0">
                <a:latin typeface="Arial" panose="020B0604020202020204" pitchFamily="34" charset="0"/>
                <a:cs typeface="Arial" panose="020B0604020202020204" pitchFamily="34" charset="0"/>
              </a:rPr>
              <a:t>.</a:t>
            </a:r>
          </a:p>
          <a:p>
            <a:pPr>
              <a:buFont typeface="Arial" panose="020B0604020202020204" pitchFamily="34" charset="0"/>
              <a:buChar char="•"/>
            </a:pPr>
            <a:r>
              <a:rPr lang="fr-FR" dirty="0">
                <a:latin typeface="Arial" panose="020B0604020202020204" pitchFamily="34" charset="0"/>
                <a:cs typeface="Arial" panose="020B0604020202020204" pitchFamily="34" charset="0"/>
              </a:rPr>
              <a:t> Puis, à chaque étape, on </a:t>
            </a:r>
            <a:r>
              <a:rPr lang="fr-FR" b="1" dirty="0">
                <a:latin typeface="Arial" panose="020B0604020202020204" pitchFamily="34" charset="0"/>
                <a:cs typeface="Arial" panose="020B0604020202020204" pitchFamily="34" charset="0"/>
              </a:rPr>
              <a:t>fusionne les deux groupes les plus proches</a:t>
            </a:r>
            <a:r>
              <a:rPr lang="fr-FR" dirty="0">
                <a:latin typeface="Arial" panose="020B0604020202020204" pitchFamily="34" charset="0"/>
                <a:cs typeface="Arial" panose="020B0604020202020204" pitchFamily="34" charset="0"/>
              </a:rPr>
              <a:t> (selon une distance définie).</a:t>
            </a:r>
          </a:p>
          <a:p>
            <a:pPr>
              <a:buFont typeface="Arial" panose="020B0604020202020204" pitchFamily="34" charset="0"/>
              <a:buChar char="•"/>
            </a:pPr>
            <a:r>
              <a:rPr lang="fr-FR" dirty="0">
                <a:latin typeface="Arial" panose="020B0604020202020204" pitchFamily="34" charset="0"/>
                <a:cs typeface="Arial" panose="020B0604020202020204" pitchFamily="34" charset="0"/>
              </a:rPr>
              <a:t> Le processus continue jusqu’à ce qu’il ne reste </a:t>
            </a:r>
            <a:r>
              <a:rPr lang="fr-FR" b="1" dirty="0">
                <a:latin typeface="Arial" panose="020B0604020202020204" pitchFamily="34" charset="0"/>
                <a:cs typeface="Arial" panose="020B0604020202020204" pitchFamily="34" charset="0"/>
              </a:rPr>
              <a:t>plus qu’un seul groupe</a:t>
            </a:r>
            <a:r>
              <a:rPr lang="fr-FR" dirty="0">
                <a:latin typeface="Arial" panose="020B0604020202020204" pitchFamily="34" charset="0"/>
                <a:cs typeface="Arial" panose="020B0604020202020204" pitchFamily="34" charset="0"/>
              </a:rPr>
              <a:t> contenant tous les individus.</a:t>
            </a:r>
          </a:p>
          <a:p>
            <a:endParaRPr lang="fr-FR" dirty="0"/>
          </a:p>
        </p:txBody>
      </p:sp>
    </p:spTree>
    <p:extLst>
      <p:ext uri="{BB962C8B-B14F-4D97-AF65-F5344CB8AC3E}">
        <p14:creationId xmlns:p14="http://schemas.microsoft.com/office/powerpoint/2010/main" val="1152623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C2194-D5B4-6F8D-077E-6E5791A993D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77E7A0A-DFD3-9F40-5A61-FE4E5E38AB3B}"/>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30101A6F-3AD9-BF59-F2FC-CDBF47E1E471}"/>
              </a:ext>
            </a:extLst>
          </p:cNvPr>
          <p:cNvSpPr txBox="1"/>
          <p:nvPr/>
        </p:nvSpPr>
        <p:spPr>
          <a:xfrm>
            <a:off x="393290" y="12683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2. </a:t>
            </a:r>
            <a:r>
              <a:rPr lang="fr-FR" sz="2000" dirty="0">
                <a:latin typeface="Arial" panose="020B0604020202020204" pitchFamily="34" charset="0"/>
                <a:cs typeface="Arial" panose="020B0604020202020204" pitchFamily="34" charset="0"/>
              </a:rPr>
              <a:t>Le Dendrogramme</a:t>
            </a:r>
          </a:p>
        </p:txBody>
      </p:sp>
      <p:sp>
        <p:nvSpPr>
          <p:cNvPr id="5" name="ZoneTexte 4">
            <a:extLst>
              <a:ext uri="{FF2B5EF4-FFF2-40B4-BE49-F238E27FC236}">
                <a16:creationId xmlns:a16="http://schemas.microsoft.com/office/drawing/2014/main" id="{C7CFE324-892E-CAC0-A690-4CD3B07BEE54}"/>
              </a:ext>
            </a:extLst>
          </p:cNvPr>
          <p:cNvSpPr txBox="1"/>
          <p:nvPr/>
        </p:nvSpPr>
        <p:spPr>
          <a:xfrm>
            <a:off x="552712" y="2055644"/>
            <a:ext cx="10215716" cy="2031325"/>
          </a:xfrm>
          <a:prstGeom prst="rect">
            <a:avLst/>
          </a:prstGeom>
          <a:noFill/>
        </p:spPr>
        <p:txBody>
          <a:bodyPr wrap="square" rtlCol="0">
            <a:spAutoFit/>
          </a:bodyPr>
          <a:lstStyle/>
          <a:p>
            <a:pPr>
              <a:buNone/>
            </a:pPr>
            <a:r>
              <a:rPr lang="fr-FR" dirty="0">
                <a:latin typeface="Arial" panose="020B0604020202020204" pitchFamily="34" charset="0"/>
                <a:cs typeface="Arial" panose="020B0604020202020204" pitchFamily="34" charset="0"/>
              </a:rPr>
              <a:t>Le </a:t>
            </a:r>
            <a:r>
              <a:rPr lang="fr-FR" b="1" dirty="0">
                <a:latin typeface="Arial" panose="020B0604020202020204" pitchFamily="34" charset="0"/>
                <a:cs typeface="Arial" panose="020B0604020202020204" pitchFamily="34" charset="0"/>
              </a:rPr>
              <a:t>dendrogramme</a:t>
            </a:r>
            <a:r>
              <a:rPr lang="fr-FR" dirty="0">
                <a:latin typeface="Arial" panose="020B0604020202020204" pitchFamily="34" charset="0"/>
                <a:cs typeface="Arial" panose="020B0604020202020204" pitchFamily="34" charset="0"/>
              </a:rPr>
              <a:t> est le </a:t>
            </a:r>
            <a:r>
              <a:rPr lang="fr-FR" b="1" dirty="0">
                <a:latin typeface="Arial" panose="020B0604020202020204" pitchFamily="34" charset="0"/>
                <a:cs typeface="Arial" panose="020B0604020202020204" pitchFamily="34" charset="0"/>
              </a:rPr>
              <a:t>graphe en forme d’arbre</a:t>
            </a:r>
            <a:r>
              <a:rPr lang="fr-FR" dirty="0">
                <a:latin typeface="Arial" panose="020B0604020202020204" pitchFamily="34" charset="0"/>
                <a:cs typeface="Arial" panose="020B0604020202020204" pitchFamily="34" charset="0"/>
              </a:rPr>
              <a:t> qui représente visuellement les regroupements successifs :</a:t>
            </a:r>
          </a:p>
          <a:p>
            <a:pPr>
              <a:buNone/>
            </a:pPr>
            <a:endParaRPr lang="fr-FR"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 Chaque </a:t>
            </a:r>
            <a:r>
              <a:rPr lang="fr-FR" b="1" dirty="0">
                <a:latin typeface="Arial" panose="020B0604020202020204" pitchFamily="34" charset="0"/>
                <a:cs typeface="Arial" panose="020B0604020202020204" pitchFamily="34" charset="0"/>
              </a:rPr>
              <a:t>branche</a:t>
            </a:r>
            <a:r>
              <a:rPr lang="fr-FR" dirty="0">
                <a:latin typeface="Arial" panose="020B0604020202020204" pitchFamily="34" charset="0"/>
                <a:cs typeface="Arial" panose="020B0604020202020204" pitchFamily="34" charset="0"/>
              </a:rPr>
              <a:t> montre un regroupement entre deux éléments ou groupes.</a:t>
            </a:r>
          </a:p>
          <a:p>
            <a:pPr>
              <a:buFont typeface="Arial" panose="020B0604020202020204" pitchFamily="34" charset="0"/>
              <a:buChar char="•"/>
            </a:pPr>
            <a:r>
              <a:rPr lang="fr-FR" dirty="0">
                <a:latin typeface="Arial" panose="020B0604020202020204" pitchFamily="34" charset="0"/>
                <a:cs typeface="Arial" panose="020B0604020202020204" pitchFamily="34" charset="0"/>
              </a:rPr>
              <a:t> L’</a:t>
            </a:r>
            <a:r>
              <a:rPr lang="fr-FR" b="1" dirty="0">
                <a:latin typeface="Arial" panose="020B0604020202020204" pitchFamily="34" charset="0"/>
                <a:cs typeface="Arial" panose="020B0604020202020204" pitchFamily="34" charset="0"/>
              </a:rPr>
              <a:t>axe vertical</a:t>
            </a:r>
            <a:r>
              <a:rPr lang="fr-FR" dirty="0">
                <a:latin typeface="Arial" panose="020B0604020202020204" pitchFamily="34" charset="0"/>
                <a:cs typeface="Arial" panose="020B0604020202020204" pitchFamily="34" charset="0"/>
              </a:rPr>
              <a:t> indique à quel point les groupes sont différents quand ils sont regroupés.</a:t>
            </a:r>
          </a:p>
          <a:p>
            <a:pPr>
              <a:buFont typeface="Arial" panose="020B0604020202020204" pitchFamily="34" charset="0"/>
              <a:buChar char="•"/>
            </a:pPr>
            <a:r>
              <a:rPr lang="fr-FR" dirty="0">
                <a:latin typeface="Arial" panose="020B0604020202020204" pitchFamily="34" charset="0"/>
                <a:cs typeface="Arial" panose="020B0604020202020204" pitchFamily="34" charset="0"/>
              </a:rPr>
              <a:t> En traçant une </a:t>
            </a:r>
            <a:r>
              <a:rPr lang="fr-FR" b="1" dirty="0">
                <a:latin typeface="Arial" panose="020B0604020202020204" pitchFamily="34" charset="0"/>
                <a:cs typeface="Arial" panose="020B0604020202020204" pitchFamily="34" charset="0"/>
              </a:rPr>
              <a:t>ligne horizontale (seuil de coupe)</a:t>
            </a:r>
            <a:r>
              <a:rPr lang="fr-FR" dirty="0">
                <a:latin typeface="Arial" panose="020B0604020202020204" pitchFamily="34" charset="0"/>
                <a:cs typeface="Arial" panose="020B0604020202020204" pitchFamily="34" charset="0"/>
              </a:rPr>
              <a:t>, tu choisis combien de groupes tu veux à la fin.</a:t>
            </a:r>
          </a:p>
        </p:txBody>
      </p:sp>
      <p:pic>
        <p:nvPicPr>
          <p:cNvPr id="6" name="Image 5">
            <a:extLst>
              <a:ext uri="{FF2B5EF4-FFF2-40B4-BE49-F238E27FC236}">
                <a16:creationId xmlns:a16="http://schemas.microsoft.com/office/drawing/2014/main" id="{35C41DF1-94F7-930A-7668-359CF5A7729E}"/>
              </a:ext>
            </a:extLst>
          </p:cNvPr>
          <p:cNvPicPr>
            <a:picLocks noChangeAspect="1"/>
          </p:cNvPicPr>
          <p:nvPr/>
        </p:nvPicPr>
        <p:blipFill>
          <a:blip r:embed="rId2"/>
          <a:stretch>
            <a:fillRect/>
          </a:stretch>
        </p:blipFill>
        <p:spPr>
          <a:xfrm>
            <a:off x="5412284" y="3978641"/>
            <a:ext cx="5798387" cy="2803159"/>
          </a:xfrm>
          <a:prstGeom prst="rect">
            <a:avLst/>
          </a:prstGeom>
        </p:spPr>
      </p:pic>
    </p:spTree>
    <p:extLst>
      <p:ext uri="{BB962C8B-B14F-4D97-AF65-F5344CB8AC3E}">
        <p14:creationId xmlns:p14="http://schemas.microsoft.com/office/powerpoint/2010/main" val="3210050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80EE7-1618-6FAC-3919-C94D258E621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D963963-794C-BF35-E070-238C4F89DEE4}"/>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86C563CB-F789-782D-530B-62B22BBC5D61}"/>
              </a:ext>
            </a:extLst>
          </p:cNvPr>
          <p:cNvSpPr txBox="1"/>
          <p:nvPr/>
        </p:nvSpPr>
        <p:spPr>
          <a:xfrm>
            <a:off x="393290" y="12683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3. Clustering </a:t>
            </a:r>
            <a:endParaRPr lang="fr-FR" sz="2000" dirty="0">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752716F7-365F-A338-F661-34AE7D4904D5}"/>
              </a:ext>
            </a:extLst>
          </p:cNvPr>
          <p:cNvSpPr txBox="1"/>
          <p:nvPr/>
        </p:nvSpPr>
        <p:spPr>
          <a:xfrm>
            <a:off x="481780" y="2136338"/>
            <a:ext cx="10068232" cy="2862322"/>
          </a:xfrm>
          <a:prstGeom prst="rect">
            <a:avLst/>
          </a:prstGeom>
          <a:noFill/>
        </p:spPr>
        <p:txBody>
          <a:bodyPr wrap="square" rtlCol="0">
            <a:spAutoFit/>
          </a:bodyPr>
          <a:lstStyle/>
          <a:p>
            <a:pPr>
              <a:buNone/>
            </a:pPr>
            <a:r>
              <a:rPr lang="fr-FR" dirty="0">
                <a:latin typeface="Arial" panose="020B0604020202020204" pitchFamily="34" charset="0"/>
                <a:cs typeface="Arial" panose="020B0604020202020204" pitchFamily="34" charset="0"/>
              </a:rPr>
              <a:t>Le </a:t>
            </a:r>
            <a:r>
              <a:rPr lang="fr-FR" b="1" dirty="0">
                <a:latin typeface="Arial" panose="020B0604020202020204" pitchFamily="34" charset="0"/>
                <a:cs typeface="Arial" panose="020B0604020202020204" pitchFamily="34" charset="0"/>
              </a:rPr>
              <a:t>clustering</a:t>
            </a:r>
            <a:r>
              <a:rPr lang="fr-FR" dirty="0">
                <a:latin typeface="Arial" panose="020B0604020202020204" pitchFamily="34" charset="0"/>
                <a:cs typeface="Arial" panose="020B0604020202020204" pitchFamily="34" charset="0"/>
              </a:rPr>
              <a:t> (ou </a:t>
            </a:r>
            <a:r>
              <a:rPr lang="fr-FR" b="1" dirty="0">
                <a:latin typeface="Arial" panose="020B0604020202020204" pitchFamily="34" charset="0"/>
                <a:cs typeface="Arial" panose="020B0604020202020204" pitchFamily="34" charset="0"/>
              </a:rPr>
              <a:t>regroupement</a:t>
            </a:r>
            <a:r>
              <a:rPr lang="fr-FR" dirty="0">
                <a:latin typeface="Arial" panose="020B0604020202020204" pitchFamily="34" charset="0"/>
                <a:cs typeface="Arial" panose="020B0604020202020204" pitchFamily="34" charset="0"/>
              </a:rPr>
              <a:t> en français) est une méthode d’</a:t>
            </a:r>
            <a:r>
              <a:rPr lang="fr-FR" b="1" dirty="0">
                <a:latin typeface="Arial" panose="020B0604020202020204" pitchFamily="34" charset="0"/>
                <a:cs typeface="Arial" panose="020B0604020202020204" pitchFamily="34" charset="0"/>
              </a:rPr>
              <a:t>apprentissage non supervisé</a:t>
            </a:r>
            <a:r>
              <a:rPr lang="fr-FR" dirty="0">
                <a:latin typeface="Arial" panose="020B0604020202020204" pitchFamily="34" charset="0"/>
                <a:cs typeface="Arial" panose="020B0604020202020204" pitchFamily="34" charset="0"/>
              </a:rPr>
              <a:t> en </a:t>
            </a:r>
            <a:r>
              <a:rPr lang="fr-FR" b="1" dirty="0">
                <a:latin typeface="Arial" panose="020B0604020202020204" pitchFamily="34" charset="0"/>
                <a:cs typeface="Arial" panose="020B0604020202020204" pitchFamily="34" charset="0"/>
              </a:rPr>
              <a:t>data science</a:t>
            </a:r>
            <a:r>
              <a:rPr lang="fr-FR" dirty="0">
                <a:latin typeface="Arial" panose="020B0604020202020204" pitchFamily="34" charset="0"/>
                <a:cs typeface="Arial" panose="020B0604020202020204" pitchFamily="34" charset="0"/>
              </a:rPr>
              <a:t>. Son objectif est de </a:t>
            </a:r>
            <a:r>
              <a:rPr lang="fr-FR" b="1" dirty="0">
                <a:latin typeface="Arial" panose="020B0604020202020204" pitchFamily="34" charset="0"/>
                <a:cs typeface="Arial" panose="020B0604020202020204" pitchFamily="34" charset="0"/>
              </a:rPr>
              <a:t>regrouper automatiquement</a:t>
            </a:r>
            <a:r>
              <a:rPr lang="fr-FR" dirty="0">
                <a:latin typeface="Arial" panose="020B0604020202020204" pitchFamily="34" charset="0"/>
                <a:cs typeface="Arial" panose="020B0604020202020204" pitchFamily="34" charset="0"/>
              </a:rPr>
              <a:t> des objets, individus ou observations en </a:t>
            </a:r>
            <a:r>
              <a:rPr lang="fr-FR" b="1" dirty="0">
                <a:latin typeface="Arial" panose="020B0604020202020204" pitchFamily="34" charset="0"/>
                <a:cs typeface="Arial" panose="020B0604020202020204" pitchFamily="34" charset="0"/>
              </a:rPr>
              <a:t>groupes homogènes</a:t>
            </a:r>
            <a:r>
              <a:rPr lang="fr-FR" dirty="0">
                <a:latin typeface="Arial" panose="020B0604020202020204" pitchFamily="34" charset="0"/>
                <a:cs typeface="Arial" panose="020B0604020202020204" pitchFamily="34" charset="0"/>
              </a:rPr>
              <a:t> appelés </a:t>
            </a:r>
            <a:r>
              <a:rPr lang="fr-FR" b="1" dirty="0">
                <a:latin typeface="Arial" panose="020B0604020202020204" pitchFamily="34" charset="0"/>
                <a:cs typeface="Arial" panose="020B0604020202020204" pitchFamily="34" charset="0"/>
              </a:rPr>
              <a:t>clusters</a:t>
            </a:r>
            <a:r>
              <a:rPr lang="fr-FR" dirty="0">
                <a:latin typeface="Arial" panose="020B0604020202020204" pitchFamily="34" charset="0"/>
                <a:cs typeface="Arial" panose="020B0604020202020204" pitchFamily="34" charset="0"/>
              </a:rPr>
              <a:t>, </a:t>
            </a:r>
            <a:r>
              <a:rPr lang="fr-FR" b="1" dirty="0">
                <a:latin typeface="Arial" panose="020B0604020202020204" pitchFamily="34" charset="0"/>
                <a:cs typeface="Arial" panose="020B0604020202020204" pitchFamily="34" charset="0"/>
              </a:rPr>
              <a:t>sans avoir d’étiquettes au départ</a:t>
            </a:r>
            <a:r>
              <a:rPr lang="fr-FR" dirty="0">
                <a:latin typeface="Arial" panose="020B0604020202020204" pitchFamily="34" charset="0"/>
                <a:cs typeface="Arial" panose="020B0604020202020204" pitchFamily="34" charset="0"/>
              </a:rPr>
              <a:t>.</a:t>
            </a:r>
          </a:p>
          <a:p>
            <a:pPr>
              <a:buNone/>
            </a:pPr>
            <a:endParaRPr lang="fr-FR" dirty="0">
              <a:latin typeface="Arial" panose="020B0604020202020204" pitchFamily="34" charset="0"/>
              <a:cs typeface="Arial" panose="020B0604020202020204" pitchFamily="34" charset="0"/>
            </a:endParaRPr>
          </a:p>
          <a:p>
            <a:pPr>
              <a:buNone/>
            </a:pPr>
            <a:endParaRPr lang="fr-FR" dirty="0">
              <a:latin typeface="Arial" panose="020B0604020202020204" pitchFamily="34" charset="0"/>
              <a:cs typeface="Arial" panose="020B0604020202020204" pitchFamily="34" charset="0"/>
            </a:endParaRPr>
          </a:p>
          <a:p>
            <a:pPr>
              <a:buNone/>
            </a:pPr>
            <a:r>
              <a:rPr lang="fr-FR" b="1" dirty="0">
                <a:latin typeface="Arial" panose="020B0604020202020204" pitchFamily="34" charset="0"/>
                <a:cs typeface="Arial" panose="020B0604020202020204" pitchFamily="34" charset="0"/>
              </a:rPr>
              <a:t>🎯 Objectif :</a:t>
            </a:r>
          </a:p>
          <a:p>
            <a:pPr>
              <a:buNone/>
            </a:pPr>
            <a:endParaRPr lang="fr-FR" b="1" dirty="0">
              <a:latin typeface="Arial" panose="020B0604020202020204" pitchFamily="34" charset="0"/>
              <a:cs typeface="Arial" panose="020B0604020202020204" pitchFamily="34" charset="0"/>
            </a:endParaRPr>
          </a:p>
          <a:p>
            <a:pPr>
              <a:buFont typeface="Arial" panose="020B0604020202020204" pitchFamily="34" charset="0"/>
              <a:buChar char="•"/>
            </a:pPr>
            <a:r>
              <a:rPr lang="fr-FR" dirty="0">
                <a:latin typeface="Arial" panose="020B0604020202020204" pitchFamily="34" charset="0"/>
                <a:cs typeface="Arial" panose="020B0604020202020204" pitchFamily="34" charset="0"/>
              </a:rPr>
              <a:t> Regrouper des individus </a:t>
            </a:r>
            <a:r>
              <a:rPr lang="fr-FR" b="1" dirty="0">
                <a:latin typeface="Arial" panose="020B0604020202020204" pitchFamily="34" charset="0"/>
                <a:cs typeface="Arial" panose="020B0604020202020204" pitchFamily="34" charset="0"/>
              </a:rPr>
              <a:t>similaires entre eux</a:t>
            </a:r>
            <a:r>
              <a:rPr lang="fr-FR" dirty="0">
                <a:latin typeface="Arial" panose="020B0604020202020204" pitchFamily="34" charset="0"/>
                <a:cs typeface="Arial" panose="020B0604020202020204" pitchFamily="34" charset="0"/>
              </a:rPr>
              <a:t> et </a:t>
            </a:r>
            <a:r>
              <a:rPr lang="fr-FR" b="1" dirty="0">
                <a:latin typeface="Arial" panose="020B0604020202020204" pitchFamily="34" charset="0"/>
                <a:cs typeface="Arial" panose="020B0604020202020204" pitchFamily="34" charset="0"/>
              </a:rPr>
              <a:t>différents des autres</a:t>
            </a:r>
            <a:r>
              <a:rPr lang="fr-FR" dirty="0">
                <a:latin typeface="Arial" panose="020B0604020202020204" pitchFamily="34" charset="0"/>
                <a:cs typeface="Arial" panose="020B0604020202020204" pitchFamily="34" charset="0"/>
              </a:rPr>
              <a:t>.</a:t>
            </a:r>
          </a:p>
          <a:p>
            <a:pPr>
              <a:buFont typeface="Arial" panose="020B0604020202020204" pitchFamily="34" charset="0"/>
              <a:buChar char="•"/>
            </a:pPr>
            <a:r>
              <a:rPr lang="fr-FR" dirty="0">
                <a:latin typeface="Arial" panose="020B0604020202020204" pitchFamily="34" charset="0"/>
                <a:cs typeface="Arial" panose="020B0604020202020204" pitchFamily="34" charset="0"/>
              </a:rPr>
              <a:t> Identifier des </a:t>
            </a:r>
            <a:r>
              <a:rPr lang="fr-FR" b="1" dirty="0">
                <a:latin typeface="Arial" panose="020B0604020202020204" pitchFamily="34" charset="0"/>
                <a:cs typeface="Arial" panose="020B0604020202020204" pitchFamily="34" charset="0"/>
              </a:rPr>
              <a:t>profils ou des tendances</a:t>
            </a:r>
            <a:r>
              <a:rPr lang="fr-FR" dirty="0">
                <a:latin typeface="Arial" panose="020B0604020202020204" pitchFamily="34" charset="0"/>
                <a:cs typeface="Arial" panose="020B0604020202020204" pitchFamily="34" charset="0"/>
              </a:rPr>
              <a:t> cachés dans les données.</a:t>
            </a:r>
          </a:p>
          <a:p>
            <a:endParaRPr lang="fr-FR" dirty="0"/>
          </a:p>
        </p:txBody>
      </p:sp>
    </p:spTree>
    <p:extLst>
      <p:ext uri="{BB962C8B-B14F-4D97-AF65-F5344CB8AC3E}">
        <p14:creationId xmlns:p14="http://schemas.microsoft.com/office/powerpoint/2010/main" val="3020673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5BE6-0C61-0C92-94D3-258255B8588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A1C218A-A2A3-98A8-D65A-585AD444963F}"/>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3F78FCDC-4B46-A0A6-08CD-BE5C1B35C410}"/>
              </a:ext>
            </a:extLst>
          </p:cNvPr>
          <p:cNvSpPr txBox="1"/>
          <p:nvPr/>
        </p:nvSpPr>
        <p:spPr>
          <a:xfrm>
            <a:off x="393290" y="12683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4. K-</a:t>
            </a:r>
            <a:r>
              <a:rPr lang="fr-FR" sz="2000" b="1" dirty="0" err="1">
                <a:latin typeface="Arial" panose="020B0604020202020204" pitchFamily="34" charset="0"/>
                <a:cs typeface="Arial" panose="020B0604020202020204" pitchFamily="34" charset="0"/>
              </a:rPr>
              <a:t>means</a:t>
            </a:r>
            <a:r>
              <a:rPr lang="fr-FR" sz="2000" b="1" dirty="0">
                <a:latin typeface="Arial" panose="020B0604020202020204" pitchFamily="34" charset="0"/>
                <a:cs typeface="Arial" panose="020B0604020202020204" pitchFamily="34" charset="0"/>
              </a:rPr>
              <a:t>   </a:t>
            </a:r>
            <a:endParaRPr lang="fr-FR" sz="2000" dirty="0">
              <a:latin typeface="Arial" panose="020B060402020202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8CE4B1C8-EF5B-C1C8-D4C1-F6DA797CD2D1}"/>
              </a:ext>
            </a:extLst>
          </p:cNvPr>
          <p:cNvSpPr txBox="1"/>
          <p:nvPr/>
        </p:nvSpPr>
        <p:spPr>
          <a:xfrm>
            <a:off x="481780" y="2136338"/>
            <a:ext cx="10068232" cy="3139321"/>
          </a:xfrm>
          <a:prstGeom prst="rect">
            <a:avLst/>
          </a:prstGeom>
          <a:noFill/>
        </p:spPr>
        <p:txBody>
          <a:bodyPr wrap="square" rtlCol="0">
            <a:spAutoFit/>
          </a:bodyPr>
          <a:lstStyle/>
          <a:p>
            <a:pPr>
              <a:buNone/>
            </a:pPr>
            <a:r>
              <a:rPr lang="fr-FR" dirty="0">
                <a:latin typeface="Arial" panose="020B0604020202020204" pitchFamily="34" charset="0"/>
                <a:cs typeface="Arial" panose="020B0604020202020204" pitchFamily="34" charset="0"/>
              </a:rPr>
              <a:t>Le </a:t>
            </a:r>
            <a:r>
              <a:rPr lang="fr-FR" b="1" dirty="0">
                <a:latin typeface="Arial" panose="020B0604020202020204" pitchFamily="34" charset="0"/>
                <a:cs typeface="Arial" panose="020B0604020202020204" pitchFamily="34" charset="0"/>
              </a:rPr>
              <a:t>K-</a:t>
            </a:r>
            <a:r>
              <a:rPr lang="fr-FR" b="1" dirty="0" err="1">
                <a:latin typeface="Arial" panose="020B0604020202020204" pitchFamily="34" charset="0"/>
                <a:cs typeface="Arial" panose="020B0604020202020204" pitchFamily="34" charset="0"/>
              </a:rPr>
              <a:t>means</a:t>
            </a:r>
            <a:r>
              <a:rPr lang="fr-FR" dirty="0">
                <a:latin typeface="Arial" panose="020B0604020202020204" pitchFamily="34" charset="0"/>
                <a:cs typeface="Arial" panose="020B0604020202020204" pitchFamily="34" charset="0"/>
              </a:rPr>
              <a:t> (ou </a:t>
            </a:r>
            <a:r>
              <a:rPr lang="fr-FR" b="1" dirty="0">
                <a:latin typeface="Arial" panose="020B0604020202020204" pitchFamily="34" charset="0"/>
                <a:cs typeface="Arial" panose="020B0604020202020204" pitchFamily="34" charset="0"/>
              </a:rPr>
              <a:t>K-moyennes</a:t>
            </a:r>
            <a:r>
              <a:rPr lang="fr-FR" dirty="0">
                <a:latin typeface="Arial" panose="020B0604020202020204" pitchFamily="34" charset="0"/>
                <a:cs typeface="Arial" panose="020B0604020202020204" pitchFamily="34" charset="0"/>
              </a:rPr>
              <a:t>) est une méthode </a:t>
            </a:r>
            <a:r>
              <a:rPr lang="fr-FR" b="1" dirty="0">
                <a:latin typeface="Arial" panose="020B0604020202020204" pitchFamily="34" charset="0"/>
                <a:cs typeface="Arial" panose="020B0604020202020204" pitchFamily="34" charset="0"/>
              </a:rPr>
              <a:t>de clustering très utilisée</a:t>
            </a:r>
            <a:r>
              <a:rPr lang="fr-FR" dirty="0">
                <a:latin typeface="Arial" panose="020B0604020202020204" pitchFamily="34" charset="0"/>
                <a:cs typeface="Arial" panose="020B0604020202020204" pitchFamily="34" charset="0"/>
              </a:rPr>
              <a:t> pour sa simplicité et son efficacité.</a:t>
            </a:r>
          </a:p>
          <a:p>
            <a:pPr>
              <a:buNone/>
            </a:pPr>
            <a:endParaRPr lang="fr-FR" dirty="0">
              <a:latin typeface="Arial" panose="020B0604020202020204" pitchFamily="34" charset="0"/>
              <a:cs typeface="Arial" panose="020B0604020202020204" pitchFamily="34" charset="0"/>
            </a:endParaRPr>
          </a:p>
          <a:p>
            <a:pPr>
              <a:buNone/>
            </a:pPr>
            <a:r>
              <a:rPr lang="fr-FR" b="1" dirty="0">
                <a:latin typeface="Arial" panose="020B0604020202020204" pitchFamily="34" charset="0"/>
                <a:cs typeface="Arial" panose="020B0604020202020204" pitchFamily="34" charset="0"/>
              </a:rPr>
              <a:t>🧠 Principe :</a:t>
            </a:r>
          </a:p>
          <a:p>
            <a:pPr>
              <a:buNone/>
            </a:pPr>
            <a:endParaRPr lang="fr-FR" b="1" dirty="0">
              <a:latin typeface="Arial" panose="020B0604020202020204" pitchFamily="34" charset="0"/>
              <a:cs typeface="Arial" panose="020B0604020202020204" pitchFamily="34" charset="0"/>
            </a:endParaRPr>
          </a:p>
          <a:p>
            <a:pPr>
              <a:buFont typeface="+mj-lt"/>
              <a:buAutoNum type="arabicPeriod"/>
            </a:pPr>
            <a:r>
              <a:rPr lang="fr-FR" dirty="0">
                <a:latin typeface="Arial" panose="020B0604020202020204" pitchFamily="34" charset="0"/>
                <a:cs typeface="Arial" panose="020B0604020202020204" pitchFamily="34" charset="0"/>
              </a:rPr>
              <a:t> Tu choisis </a:t>
            </a:r>
            <a:r>
              <a:rPr lang="fr-FR" b="1" dirty="0">
                <a:latin typeface="Arial" panose="020B0604020202020204" pitchFamily="34" charset="0"/>
                <a:cs typeface="Arial" panose="020B0604020202020204" pitchFamily="34" charset="0"/>
              </a:rPr>
              <a:t>K</a:t>
            </a:r>
            <a:r>
              <a:rPr lang="fr-FR" dirty="0">
                <a:latin typeface="Arial" panose="020B0604020202020204" pitchFamily="34" charset="0"/>
                <a:cs typeface="Arial" panose="020B0604020202020204" pitchFamily="34" charset="0"/>
              </a:rPr>
              <a:t>, le </a:t>
            </a:r>
            <a:r>
              <a:rPr lang="fr-FR" b="1" dirty="0">
                <a:latin typeface="Arial" panose="020B0604020202020204" pitchFamily="34" charset="0"/>
                <a:cs typeface="Arial" panose="020B0604020202020204" pitchFamily="34" charset="0"/>
              </a:rPr>
              <a:t>nombre de groupes (clusters)</a:t>
            </a:r>
            <a:r>
              <a:rPr lang="fr-FR" dirty="0">
                <a:latin typeface="Arial" panose="020B0604020202020204" pitchFamily="34" charset="0"/>
                <a:cs typeface="Arial" panose="020B0604020202020204" pitchFamily="34" charset="0"/>
              </a:rPr>
              <a:t> que tu veux créer.</a:t>
            </a:r>
          </a:p>
          <a:p>
            <a:pPr>
              <a:buFont typeface="+mj-lt"/>
              <a:buAutoNum type="arabicPeriod"/>
            </a:pPr>
            <a:r>
              <a:rPr lang="fr-FR" dirty="0">
                <a:latin typeface="Arial" panose="020B0604020202020204" pitchFamily="34" charset="0"/>
                <a:cs typeface="Arial" panose="020B0604020202020204" pitchFamily="34" charset="0"/>
              </a:rPr>
              <a:t> L’algorithme place </a:t>
            </a:r>
            <a:r>
              <a:rPr lang="fr-FR" b="1" dirty="0">
                <a:latin typeface="Arial" panose="020B0604020202020204" pitchFamily="34" charset="0"/>
                <a:cs typeface="Arial" panose="020B0604020202020204" pitchFamily="34" charset="0"/>
              </a:rPr>
              <a:t>aléatoirement K centres</a:t>
            </a:r>
            <a:r>
              <a:rPr lang="fr-FR" dirty="0">
                <a:latin typeface="Arial" panose="020B0604020202020204" pitchFamily="34" charset="0"/>
                <a:cs typeface="Arial" panose="020B0604020202020204" pitchFamily="34" charset="0"/>
              </a:rPr>
              <a:t> dans les données (appelés centroïdes).</a:t>
            </a:r>
          </a:p>
          <a:p>
            <a:pPr>
              <a:buFont typeface="+mj-lt"/>
              <a:buAutoNum type="arabicPeriod"/>
            </a:pPr>
            <a:r>
              <a:rPr lang="fr-FR" dirty="0">
                <a:latin typeface="Arial" panose="020B0604020202020204" pitchFamily="34" charset="0"/>
                <a:cs typeface="Arial" panose="020B0604020202020204" pitchFamily="34" charset="0"/>
              </a:rPr>
              <a:t> Chaque point est affecté au </a:t>
            </a:r>
            <a:r>
              <a:rPr lang="fr-FR" b="1" dirty="0">
                <a:latin typeface="Arial" panose="020B0604020202020204" pitchFamily="34" charset="0"/>
                <a:cs typeface="Arial" panose="020B0604020202020204" pitchFamily="34" charset="0"/>
              </a:rPr>
              <a:t>centre le plus proche</a:t>
            </a:r>
            <a:r>
              <a:rPr lang="fr-FR" dirty="0">
                <a:latin typeface="Arial" panose="020B0604020202020204" pitchFamily="34" charset="0"/>
                <a:cs typeface="Arial" panose="020B0604020202020204" pitchFamily="34" charset="0"/>
              </a:rPr>
              <a:t>.</a:t>
            </a:r>
          </a:p>
          <a:p>
            <a:pPr>
              <a:buFont typeface="+mj-lt"/>
              <a:buAutoNum type="arabicPeriod"/>
            </a:pPr>
            <a:r>
              <a:rPr lang="fr-FR" dirty="0">
                <a:latin typeface="Arial" panose="020B0604020202020204" pitchFamily="34" charset="0"/>
                <a:cs typeface="Arial" panose="020B0604020202020204" pitchFamily="34" charset="0"/>
              </a:rPr>
              <a:t> Les </a:t>
            </a:r>
            <a:r>
              <a:rPr lang="fr-FR" b="1" dirty="0">
                <a:latin typeface="Arial" panose="020B0604020202020204" pitchFamily="34" charset="0"/>
                <a:cs typeface="Arial" panose="020B0604020202020204" pitchFamily="34" charset="0"/>
              </a:rPr>
              <a:t>centres sont recalculés</a:t>
            </a:r>
            <a:r>
              <a:rPr lang="fr-FR" dirty="0">
                <a:latin typeface="Arial" panose="020B0604020202020204" pitchFamily="34" charset="0"/>
                <a:cs typeface="Arial" panose="020B0604020202020204" pitchFamily="34" charset="0"/>
              </a:rPr>
              <a:t> comme la moyenne des points du cluster.</a:t>
            </a:r>
          </a:p>
          <a:p>
            <a:pPr>
              <a:buFont typeface="+mj-lt"/>
              <a:buAutoNum type="arabicPeriod"/>
            </a:pPr>
            <a:r>
              <a:rPr lang="fr-FR" dirty="0">
                <a:latin typeface="Arial" panose="020B0604020202020204" pitchFamily="34" charset="0"/>
                <a:cs typeface="Arial" panose="020B0604020202020204" pitchFamily="34" charset="0"/>
              </a:rPr>
              <a:t> Répète jusqu’à </a:t>
            </a:r>
            <a:r>
              <a:rPr lang="fr-FR" b="1" dirty="0">
                <a:latin typeface="Arial" panose="020B0604020202020204" pitchFamily="34" charset="0"/>
                <a:cs typeface="Arial" panose="020B0604020202020204" pitchFamily="34" charset="0"/>
              </a:rPr>
              <a:t>stabilisation</a:t>
            </a:r>
            <a:r>
              <a:rPr lang="fr-FR" dirty="0">
                <a:latin typeface="Arial" panose="020B0604020202020204" pitchFamily="34" charset="0"/>
                <a:cs typeface="Arial" panose="020B0604020202020204" pitchFamily="34" charset="0"/>
              </a:rPr>
              <a:t> (les centres ne bougent plus).</a:t>
            </a:r>
          </a:p>
          <a:p>
            <a:endParaRPr lang="fr-FR" dirty="0"/>
          </a:p>
        </p:txBody>
      </p:sp>
    </p:spTree>
    <p:extLst>
      <p:ext uri="{BB962C8B-B14F-4D97-AF65-F5344CB8AC3E}">
        <p14:creationId xmlns:p14="http://schemas.microsoft.com/office/powerpoint/2010/main" val="141824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01AF9-E916-370D-0258-26943B0EA5D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E69FE0A-D985-376E-9128-EF906FA271E4}"/>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3"/>
            </a:pPr>
            <a:r>
              <a:rPr lang="fr-FR" sz="2800" b="1" dirty="0">
                <a:solidFill>
                  <a:srgbClr val="C00000"/>
                </a:solidFill>
                <a:latin typeface="Arial" panose="020B0604020202020204" pitchFamily="34" charset="0"/>
                <a:cs typeface="Arial" panose="020B0604020202020204" pitchFamily="34" charset="0"/>
              </a:rPr>
              <a:t>Méthodologie d’analyse</a:t>
            </a:r>
          </a:p>
        </p:txBody>
      </p:sp>
      <p:sp>
        <p:nvSpPr>
          <p:cNvPr id="3" name="ZoneTexte 2">
            <a:extLst>
              <a:ext uri="{FF2B5EF4-FFF2-40B4-BE49-F238E27FC236}">
                <a16:creationId xmlns:a16="http://schemas.microsoft.com/office/drawing/2014/main" id="{BD227D18-DADD-E50E-3596-94081DDF0E00}"/>
              </a:ext>
            </a:extLst>
          </p:cNvPr>
          <p:cNvSpPr txBox="1"/>
          <p:nvPr/>
        </p:nvSpPr>
        <p:spPr>
          <a:xfrm>
            <a:off x="481780" y="1369961"/>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4. ACP  (Analyse en Composantes Principales) </a:t>
            </a:r>
          </a:p>
        </p:txBody>
      </p:sp>
      <p:sp>
        <p:nvSpPr>
          <p:cNvPr id="4" name="ZoneTexte 3">
            <a:extLst>
              <a:ext uri="{FF2B5EF4-FFF2-40B4-BE49-F238E27FC236}">
                <a16:creationId xmlns:a16="http://schemas.microsoft.com/office/drawing/2014/main" id="{0BF604A2-CA7D-EF7E-16B4-1F2F56B422D7}"/>
              </a:ext>
            </a:extLst>
          </p:cNvPr>
          <p:cNvSpPr txBox="1"/>
          <p:nvPr/>
        </p:nvSpPr>
        <p:spPr>
          <a:xfrm>
            <a:off x="481780" y="2136338"/>
            <a:ext cx="10068232" cy="2862322"/>
          </a:xfrm>
          <a:prstGeom prst="rect">
            <a:avLst/>
          </a:prstGeom>
          <a:noFill/>
        </p:spPr>
        <p:txBody>
          <a:bodyPr wrap="square" rtlCol="0">
            <a:spAutoFit/>
          </a:bodyPr>
          <a:lstStyle/>
          <a:p>
            <a:pPr>
              <a:buNone/>
            </a:pPr>
            <a:r>
              <a:rPr lang="fr-FR" dirty="0">
                <a:latin typeface="Arial" panose="020B0604020202020204" pitchFamily="34" charset="0"/>
                <a:cs typeface="Arial" panose="020B0604020202020204" pitchFamily="34" charset="0"/>
              </a:rPr>
              <a:t>L'ACP transforme des </a:t>
            </a:r>
            <a:r>
              <a:rPr lang="fr-FR" b="1" dirty="0">
                <a:latin typeface="Arial" panose="020B0604020202020204" pitchFamily="34" charset="0"/>
                <a:cs typeface="Arial" panose="020B0604020202020204" pitchFamily="34" charset="0"/>
              </a:rPr>
              <a:t>variables corrélées</a:t>
            </a:r>
            <a:r>
              <a:rPr lang="fr-FR" dirty="0">
                <a:latin typeface="Arial" panose="020B0604020202020204" pitchFamily="34" charset="0"/>
                <a:cs typeface="Arial" panose="020B0604020202020204" pitchFamily="34" charset="0"/>
              </a:rPr>
              <a:t> (souvent nombreuses) en un </a:t>
            </a:r>
            <a:r>
              <a:rPr lang="fr-FR" b="1" dirty="0">
                <a:latin typeface="Arial" panose="020B0604020202020204" pitchFamily="34" charset="0"/>
                <a:cs typeface="Arial" panose="020B0604020202020204" pitchFamily="34" charset="0"/>
              </a:rPr>
              <a:t>petit nombre de nouvelles variables non corrélées</a:t>
            </a:r>
            <a:r>
              <a:rPr lang="fr-FR" dirty="0">
                <a:latin typeface="Arial" panose="020B0604020202020204" pitchFamily="34" charset="0"/>
                <a:cs typeface="Arial" panose="020B0604020202020204" pitchFamily="34" charset="0"/>
              </a:rPr>
              <a:t> appelées </a:t>
            </a:r>
            <a:r>
              <a:rPr lang="fr-FR" b="1" dirty="0">
                <a:latin typeface="Arial" panose="020B0604020202020204" pitchFamily="34" charset="0"/>
                <a:cs typeface="Arial" panose="020B0604020202020204" pitchFamily="34" charset="0"/>
              </a:rPr>
              <a:t>composantes principales</a:t>
            </a:r>
            <a:r>
              <a:rPr lang="fr-FR" dirty="0">
                <a:latin typeface="Arial" panose="020B0604020202020204" pitchFamily="34" charset="0"/>
                <a:cs typeface="Arial" panose="020B0604020202020204" pitchFamily="34" charset="0"/>
              </a:rPr>
              <a:t>.</a:t>
            </a:r>
          </a:p>
          <a:p>
            <a:pPr>
              <a:buNone/>
            </a:pPr>
            <a:endParaRPr lang="fr-FR" dirty="0">
              <a:latin typeface="Arial" panose="020B0604020202020204" pitchFamily="34" charset="0"/>
              <a:cs typeface="Arial" panose="020B0604020202020204" pitchFamily="34" charset="0"/>
            </a:endParaRPr>
          </a:p>
          <a:p>
            <a:pPr>
              <a:buNone/>
            </a:pPr>
            <a:r>
              <a:rPr lang="fr-FR" b="1" dirty="0">
                <a:latin typeface="Arial" panose="020B0604020202020204" pitchFamily="34" charset="0"/>
                <a:cs typeface="Arial" panose="020B0604020202020204" pitchFamily="34" charset="0"/>
              </a:rPr>
              <a:t>🎯 Objectif :</a:t>
            </a:r>
          </a:p>
          <a:p>
            <a:pPr>
              <a:buNone/>
            </a:pPr>
            <a:endParaRPr lang="fr-FR" b="1" dirty="0">
              <a:latin typeface="Arial" panose="020B0604020202020204" pitchFamily="34" charset="0"/>
              <a:cs typeface="Arial" panose="020B0604020202020204" pitchFamily="34" charset="0"/>
            </a:endParaRPr>
          </a:p>
          <a:p>
            <a:pPr>
              <a:buFont typeface="Arial" panose="020B0604020202020204" pitchFamily="34" charset="0"/>
              <a:buChar char="•"/>
            </a:pPr>
            <a:r>
              <a:rPr lang="fr-FR" b="1" dirty="0">
                <a:latin typeface="Arial" panose="020B0604020202020204" pitchFamily="34" charset="0"/>
                <a:cs typeface="Arial" panose="020B0604020202020204" pitchFamily="34" charset="0"/>
              </a:rPr>
              <a:t> Résumer l'information</a:t>
            </a:r>
            <a:r>
              <a:rPr lang="fr-FR" dirty="0">
                <a:latin typeface="Arial" panose="020B0604020202020204" pitchFamily="34" charset="0"/>
                <a:cs typeface="Arial" panose="020B0604020202020204" pitchFamily="34" charset="0"/>
              </a:rPr>
              <a:t> contenue dans les données.</a:t>
            </a:r>
          </a:p>
          <a:p>
            <a:pPr>
              <a:buFont typeface="Arial" panose="020B0604020202020204" pitchFamily="34" charset="0"/>
              <a:buChar char="•"/>
            </a:pPr>
            <a:r>
              <a:rPr lang="fr-FR" b="1" dirty="0">
                <a:latin typeface="Arial" panose="020B0604020202020204" pitchFamily="34" charset="0"/>
                <a:cs typeface="Arial" panose="020B0604020202020204" pitchFamily="34" charset="0"/>
              </a:rPr>
              <a:t> Visualiser les données</a:t>
            </a:r>
            <a:r>
              <a:rPr lang="fr-FR" dirty="0">
                <a:latin typeface="Arial" panose="020B0604020202020204" pitchFamily="34" charset="0"/>
                <a:cs typeface="Arial" panose="020B0604020202020204" pitchFamily="34" charset="0"/>
              </a:rPr>
              <a:t> dans un espace réduit (souvent 2D ou 3D).</a:t>
            </a:r>
          </a:p>
          <a:p>
            <a:pPr>
              <a:buFont typeface="Arial" panose="020B0604020202020204" pitchFamily="34" charset="0"/>
              <a:buChar char="•"/>
            </a:pPr>
            <a:r>
              <a:rPr lang="fr-FR" dirty="0">
                <a:latin typeface="Arial" panose="020B0604020202020204" pitchFamily="34" charset="0"/>
                <a:cs typeface="Arial" panose="020B0604020202020204" pitchFamily="34" charset="0"/>
              </a:rPr>
              <a:t> Détecter des </a:t>
            </a:r>
            <a:r>
              <a:rPr lang="fr-FR" b="1" dirty="0">
                <a:latin typeface="Arial" panose="020B0604020202020204" pitchFamily="34" charset="0"/>
                <a:cs typeface="Arial" panose="020B0604020202020204" pitchFamily="34" charset="0"/>
              </a:rPr>
              <a:t>groupes</a:t>
            </a:r>
            <a:r>
              <a:rPr lang="fr-FR" dirty="0">
                <a:latin typeface="Arial" panose="020B0604020202020204" pitchFamily="34" charset="0"/>
                <a:cs typeface="Arial" panose="020B0604020202020204" pitchFamily="34" charset="0"/>
              </a:rPr>
              <a:t> ou </a:t>
            </a:r>
            <a:r>
              <a:rPr lang="fr-FR" b="1" dirty="0">
                <a:latin typeface="Arial" panose="020B0604020202020204" pitchFamily="34" charset="0"/>
                <a:cs typeface="Arial" panose="020B0604020202020204" pitchFamily="34" charset="0"/>
              </a:rPr>
              <a:t>tendances</a:t>
            </a:r>
            <a:r>
              <a:rPr lang="fr-FR" dirty="0">
                <a:latin typeface="Arial" panose="020B0604020202020204" pitchFamily="34" charset="0"/>
                <a:cs typeface="Arial" panose="020B0604020202020204" pitchFamily="34" charset="0"/>
              </a:rPr>
              <a:t>.</a:t>
            </a:r>
          </a:p>
          <a:p>
            <a:pPr>
              <a:buFont typeface="Arial" panose="020B0604020202020204" pitchFamily="34" charset="0"/>
              <a:buChar char="•"/>
            </a:pPr>
            <a:r>
              <a:rPr lang="fr-FR" b="1" dirty="0">
                <a:latin typeface="Arial" panose="020B0604020202020204" pitchFamily="34" charset="0"/>
                <a:cs typeface="Arial" panose="020B0604020202020204" pitchFamily="34" charset="0"/>
              </a:rPr>
              <a:t> Préparer des données</a:t>
            </a:r>
            <a:r>
              <a:rPr lang="fr-FR" dirty="0">
                <a:latin typeface="Arial" panose="020B0604020202020204" pitchFamily="34" charset="0"/>
                <a:cs typeface="Arial" panose="020B0604020202020204" pitchFamily="34" charset="0"/>
              </a:rPr>
              <a:t> pour d'autres méthodes (ex. : clustering, régression, etc.)</a:t>
            </a:r>
          </a:p>
          <a:p>
            <a:endParaRPr lang="fr-FR" dirty="0"/>
          </a:p>
        </p:txBody>
      </p:sp>
    </p:spTree>
    <p:extLst>
      <p:ext uri="{BB962C8B-B14F-4D97-AF65-F5344CB8AC3E}">
        <p14:creationId xmlns:p14="http://schemas.microsoft.com/office/powerpoint/2010/main" val="283932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800C-D126-D56D-8698-03080636F1F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B11A9E0-84E6-AC89-2946-03F3D3B48841}"/>
              </a:ext>
            </a:extLst>
          </p:cNvPr>
          <p:cNvSpPr txBox="1"/>
          <p:nvPr/>
        </p:nvSpPr>
        <p:spPr>
          <a:xfrm>
            <a:off x="809152" y="314425"/>
            <a:ext cx="7420448" cy="523220"/>
          </a:xfrm>
          <a:prstGeom prst="rect">
            <a:avLst/>
          </a:prstGeom>
          <a:noFill/>
        </p:spPr>
        <p:txBody>
          <a:bodyPr wrap="square" rtlCol="0">
            <a:spAutoFit/>
          </a:bodyPr>
          <a:lstStyle/>
          <a:p>
            <a:pPr marL="514350" indent="-514350">
              <a:buFont typeface="+mj-lt"/>
              <a:buAutoNum type="arabicPeriod" startAt="4"/>
            </a:pPr>
            <a:r>
              <a:rPr lang="fr-FR" sz="2800" b="1" dirty="0">
                <a:solidFill>
                  <a:srgbClr val="C00000"/>
                </a:solidFill>
                <a:latin typeface="Arial" panose="020B0604020202020204" pitchFamily="34" charset="0"/>
                <a:cs typeface="Arial" panose="020B0604020202020204" pitchFamily="34" charset="0"/>
              </a:rPr>
              <a:t>Résultats du clustering </a:t>
            </a:r>
          </a:p>
        </p:txBody>
      </p:sp>
      <p:sp>
        <p:nvSpPr>
          <p:cNvPr id="3" name="ZoneTexte 2">
            <a:extLst>
              <a:ext uri="{FF2B5EF4-FFF2-40B4-BE49-F238E27FC236}">
                <a16:creationId xmlns:a16="http://schemas.microsoft.com/office/drawing/2014/main" id="{4BF7F531-A38D-CD4C-EC32-635E947CEFAF}"/>
              </a:ext>
            </a:extLst>
          </p:cNvPr>
          <p:cNvSpPr txBox="1"/>
          <p:nvPr/>
        </p:nvSpPr>
        <p:spPr>
          <a:xfrm>
            <a:off x="383458" y="1238864"/>
            <a:ext cx="8327923" cy="400110"/>
          </a:xfrm>
          <a:prstGeom prst="rect">
            <a:avLst/>
          </a:prstGeom>
          <a:noFill/>
        </p:spPr>
        <p:txBody>
          <a:bodyPr wrap="square" rtlCol="0">
            <a:spAutoFit/>
          </a:bodyPr>
          <a:lstStyle/>
          <a:p>
            <a:r>
              <a:rPr lang="fr-FR" sz="2000" b="1" dirty="0">
                <a:latin typeface="Arial" panose="020B0604020202020204" pitchFamily="34" charset="0"/>
                <a:cs typeface="Arial" panose="020B0604020202020204" pitchFamily="34" charset="0"/>
              </a:rPr>
              <a:t>1. Choix du nombre de clusters avec la méthode du coude</a:t>
            </a:r>
            <a:endParaRPr lang="fr-FR" sz="2000" dirty="0">
              <a:latin typeface="Arial" panose="020B0604020202020204" pitchFamily="34" charset="0"/>
              <a:cs typeface="Arial" panose="020B0604020202020204" pitchFamily="34" charset="0"/>
            </a:endParaRPr>
          </a:p>
        </p:txBody>
      </p:sp>
      <p:pic>
        <p:nvPicPr>
          <p:cNvPr id="6" name="Image 5">
            <a:extLst>
              <a:ext uri="{FF2B5EF4-FFF2-40B4-BE49-F238E27FC236}">
                <a16:creationId xmlns:a16="http://schemas.microsoft.com/office/drawing/2014/main" id="{53EC7FBD-4972-5732-B838-FA0488EEC933}"/>
              </a:ext>
            </a:extLst>
          </p:cNvPr>
          <p:cNvPicPr>
            <a:picLocks noChangeAspect="1"/>
          </p:cNvPicPr>
          <p:nvPr/>
        </p:nvPicPr>
        <p:blipFill>
          <a:blip r:embed="rId2"/>
          <a:stretch>
            <a:fillRect/>
          </a:stretch>
        </p:blipFill>
        <p:spPr>
          <a:xfrm>
            <a:off x="383458" y="1947319"/>
            <a:ext cx="5340624" cy="3238666"/>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Encre 8">
                <a:extLst>
                  <a:ext uri="{FF2B5EF4-FFF2-40B4-BE49-F238E27FC236}">
                    <a16:creationId xmlns:a16="http://schemas.microsoft.com/office/drawing/2014/main" id="{05CC3F10-3B0F-A0E1-B6D5-EC1A0937C790}"/>
                  </a:ext>
                </a:extLst>
              </p14:cNvPr>
              <p14:cNvContentPartPr/>
              <p14:nvPr/>
            </p14:nvContentPartPr>
            <p14:xfrm>
              <a:off x="2595441" y="4394470"/>
              <a:ext cx="360" cy="360"/>
            </p14:xfrm>
          </p:contentPart>
        </mc:Choice>
        <mc:Fallback xmlns="">
          <p:pic>
            <p:nvPicPr>
              <p:cNvPr id="9" name="Encre 8">
                <a:extLst>
                  <a:ext uri="{FF2B5EF4-FFF2-40B4-BE49-F238E27FC236}">
                    <a16:creationId xmlns:a16="http://schemas.microsoft.com/office/drawing/2014/main" id="{05CC3F10-3B0F-A0E1-B6D5-EC1A0937C790}"/>
                  </a:ext>
                </a:extLst>
              </p:cNvPr>
              <p:cNvPicPr/>
              <p:nvPr/>
            </p:nvPicPr>
            <p:blipFill>
              <a:blip r:embed="rId4"/>
              <a:stretch>
                <a:fillRect/>
              </a:stretch>
            </p:blipFill>
            <p:spPr>
              <a:xfrm>
                <a:off x="2541441" y="428683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Encre 9">
                <a:extLst>
                  <a:ext uri="{FF2B5EF4-FFF2-40B4-BE49-F238E27FC236}">
                    <a16:creationId xmlns:a16="http://schemas.microsoft.com/office/drawing/2014/main" id="{84B65603-0E3D-4BAC-1D5F-C2CA4AA5D904}"/>
                  </a:ext>
                </a:extLst>
              </p14:cNvPr>
              <p14:cNvContentPartPr/>
              <p14:nvPr/>
            </p14:nvContentPartPr>
            <p14:xfrm>
              <a:off x="2586081" y="4410670"/>
              <a:ext cx="360" cy="4320"/>
            </p14:xfrm>
          </p:contentPart>
        </mc:Choice>
        <mc:Fallback xmlns="">
          <p:pic>
            <p:nvPicPr>
              <p:cNvPr id="10" name="Encre 9">
                <a:extLst>
                  <a:ext uri="{FF2B5EF4-FFF2-40B4-BE49-F238E27FC236}">
                    <a16:creationId xmlns:a16="http://schemas.microsoft.com/office/drawing/2014/main" id="{84B65603-0E3D-4BAC-1D5F-C2CA4AA5D904}"/>
                  </a:ext>
                </a:extLst>
              </p:cNvPr>
              <p:cNvPicPr/>
              <p:nvPr/>
            </p:nvPicPr>
            <p:blipFill>
              <a:blip r:embed="rId6"/>
              <a:stretch>
                <a:fillRect/>
              </a:stretch>
            </p:blipFill>
            <p:spPr>
              <a:xfrm>
                <a:off x="2532081" y="4302670"/>
                <a:ext cx="1080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Encre 10">
                <a:extLst>
                  <a:ext uri="{FF2B5EF4-FFF2-40B4-BE49-F238E27FC236}">
                    <a16:creationId xmlns:a16="http://schemas.microsoft.com/office/drawing/2014/main" id="{03A9DD53-51D1-1017-30FE-B8A47835F137}"/>
                  </a:ext>
                </a:extLst>
              </p14:cNvPr>
              <p14:cNvContentPartPr/>
              <p14:nvPr/>
            </p14:nvContentPartPr>
            <p14:xfrm>
              <a:off x="2546481" y="4414630"/>
              <a:ext cx="360" cy="360"/>
            </p14:xfrm>
          </p:contentPart>
        </mc:Choice>
        <mc:Fallback xmlns="">
          <p:pic>
            <p:nvPicPr>
              <p:cNvPr id="11" name="Encre 10">
                <a:extLst>
                  <a:ext uri="{FF2B5EF4-FFF2-40B4-BE49-F238E27FC236}">
                    <a16:creationId xmlns:a16="http://schemas.microsoft.com/office/drawing/2014/main" id="{03A9DD53-51D1-1017-30FE-B8A47835F137}"/>
                  </a:ext>
                </a:extLst>
              </p:cNvPr>
              <p:cNvPicPr/>
              <p:nvPr/>
            </p:nvPicPr>
            <p:blipFill>
              <a:blip r:embed="rId4"/>
              <a:stretch>
                <a:fillRect/>
              </a:stretch>
            </p:blipFill>
            <p:spPr>
              <a:xfrm>
                <a:off x="2492481" y="4306990"/>
                <a:ext cx="108000" cy="216000"/>
              </a:xfrm>
              <a:prstGeom prst="rect">
                <a:avLst/>
              </a:prstGeom>
            </p:spPr>
          </p:pic>
        </mc:Fallback>
      </mc:AlternateContent>
      <p:pic>
        <p:nvPicPr>
          <p:cNvPr id="13" name="Image 12">
            <a:extLst>
              <a:ext uri="{FF2B5EF4-FFF2-40B4-BE49-F238E27FC236}">
                <a16:creationId xmlns:a16="http://schemas.microsoft.com/office/drawing/2014/main" id="{1497F7E1-0602-C04B-CADD-BBFCF6E3BD3F}"/>
              </a:ext>
            </a:extLst>
          </p:cNvPr>
          <p:cNvPicPr>
            <a:picLocks noChangeAspect="1"/>
          </p:cNvPicPr>
          <p:nvPr/>
        </p:nvPicPr>
        <p:blipFill>
          <a:blip r:embed="rId8"/>
          <a:stretch>
            <a:fillRect/>
          </a:stretch>
        </p:blipFill>
        <p:spPr>
          <a:xfrm>
            <a:off x="6064539" y="2531915"/>
            <a:ext cx="3739487" cy="369332"/>
          </a:xfrm>
          <a:prstGeom prst="rect">
            <a:avLst/>
          </a:prstGeom>
        </p:spPr>
      </p:pic>
      <p:sp>
        <p:nvSpPr>
          <p:cNvPr id="14" name="ZoneTexte 13">
            <a:extLst>
              <a:ext uri="{FF2B5EF4-FFF2-40B4-BE49-F238E27FC236}">
                <a16:creationId xmlns:a16="http://schemas.microsoft.com/office/drawing/2014/main" id="{100F7114-189C-8653-B124-BFEEADD1C503}"/>
              </a:ext>
            </a:extLst>
          </p:cNvPr>
          <p:cNvSpPr txBox="1"/>
          <p:nvPr/>
        </p:nvSpPr>
        <p:spPr>
          <a:xfrm>
            <a:off x="5989581" y="2040193"/>
            <a:ext cx="3889404" cy="646331"/>
          </a:xfrm>
          <a:prstGeom prst="rect">
            <a:avLst/>
          </a:prstGeom>
          <a:noFill/>
        </p:spPr>
        <p:txBody>
          <a:bodyPr wrap="square" rtlCol="0">
            <a:spAutoFit/>
          </a:bodyPr>
          <a:lstStyle/>
          <a:p>
            <a:r>
              <a:rPr lang="fr-FR" u="sng" dirty="0">
                <a:latin typeface="Arial" panose="020B0604020202020204" pitchFamily="34" charset="0"/>
                <a:cs typeface="Arial" panose="020B0604020202020204" pitchFamily="34" charset="0"/>
              </a:rPr>
              <a:t>Nombre d’observations par clusters </a:t>
            </a:r>
            <a:r>
              <a:rPr lang="fr-FR" dirty="0">
                <a:latin typeface="Arial" panose="020B0604020202020204" pitchFamily="34" charset="0"/>
                <a:cs typeface="Arial" panose="020B0604020202020204" pitchFamily="34" charset="0"/>
              </a:rPr>
              <a:t>: </a:t>
            </a:r>
          </a:p>
        </p:txBody>
      </p:sp>
      <p:sp>
        <p:nvSpPr>
          <p:cNvPr id="17" name="ZoneTexte 16">
            <a:extLst>
              <a:ext uri="{FF2B5EF4-FFF2-40B4-BE49-F238E27FC236}">
                <a16:creationId xmlns:a16="http://schemas.microsoft.com/office/drawing/2014/main" id="{F7CFB2CA-6C91-5356-EA58-42CD5AE8C594}"/>
              </a:ext>
            </a:extLst>
          </p:cNvPr>
          <p:cNvSpPr txBox="1"/>
          <p:nvPr/>
        </p:nvSpPr>
        <p:spPr>
          <a:xfrm>
            <a:off x="5989581" y="3429000"/>
            <a:ext cx="3889404" cy="369332"/>
          </a:xfrm>
          <a:prstGeom prst="rect">
            <a:avLst/>
          </a:prstGeom>
          <a:noFill/>
        </p:spPr>
        <p:txBody>
          <a:bodyPr wrap="square" rtlCol="0">
            <a:spAutoFit/>
          </a:bodyPr>
          <a:lstStyle/>
          <a:p>
            <a:r>
              <a:rPr lang="fr-FR" u="sng" dirty="0">
                <a:latin typeface="Arial" panose="020B0604020202020204" pitchFamily="34" charset="0"/>
                <a:cs typeface="Arial" panose="020B0604020202020204" pitchFamily="34" charset="0"/>
              </a:rPr>
              <a:t>Choix final du nombre de clusters </a:t>
            </a:r>
            <a:r>
              <a:rPr lang="fr-FR" dirty="0">
                <a:latin typeface="Arial" panose="020B0604020202020204" pitchFamily="34" charset="0"/>
                <a:cs typeface="Arial" panose="020B0604020202020204" pitchFamily="34" charset="0"/>
              </a:rPr>
              <a:t>: </a:t>
            </a:r>
          </a:p>
        </p:txBody>
      </p:sp>
      <p:sp>
        <p:nvSpPr>
          <p:cNvPr id="18" name="ZoneTexte 17">
            <a:extLst>
              <a:ext uri="{FF2B5EF4-FFF2-40B4-BE49-F238E27FC236}">
                <a16:creationId xmlns:a16="http://schemas.microsoft.com/office/drawing/2014/main" id="{3784252E-20DD-142B-D615-88BB1C863786}"/>
              </a:ext>
            </a:extLst>
          </p:cNvPr>
          <p:cNvSpPr txBox="1"/>
          <p:nvPr/>
        </p:nvSpPr>
        <p:spPr>
          <a:xfrm>
            <a:off x="6096000" y="4011561"/>
            <a:ext cx="3708026" cy="923330"/>
          </a:xfrm>
          <a:prstGeom prst="rect">
            <a:avLst/>
          </a:prstGeom>
          <a:noFill/>
        </p:spPr>
        <p:txBody>
          <a:bodyPr wrap="square" rtlCol="0">
            <a:spAutoFit/>
          </a:bodyPr>
          <a:lstStyle/>
          <a:p>
            <a:r>
              <a:rPr lang="fr-FR" b="1" dirty="0"/>
              <a:t>Cluster 0 </a:t>
            </a:r>
            <a:r>
              <a:rPr lang="fr-FR" dirty="0"/>
              <a:t>: Allemagne, Japon</a:t>
            </a:r>
          </a:p>
          <a:p>
            <a:r>
              <a:rPr lang="fr-FR" b="1" dirty="0"/>
              <a:t>Cluster 1 </a:t>
            </a:r>
            <a:r>
              <a:rPr lang="fr-FR" dirty="0"/>
              <a:t>: Chine, continentale</a:t>
            </a:r>
          </a:p>
          <a:p>
            <a:r>
              <a:rPr lang="fr-FR" b="1" dirty="0"/>
              <a:t>Cluster 2 </a:t>
            </a:r>
            <a:r>
              <a:rPr lang="fr-FR" dirty="0"/>
              <a:t>: Etats-Unis d’Amérique</a:t>
            </a:r>
          </a:p>
        </p:txBody>
      </p:sp>
    </p:spTree>
    <p:extLst>
      <p:ext uri="{BB962C8B-B14F-4D97-AF65-F5344CB8AC3E}">
        <p14:creationId xmlns:p14="http://schemas.microsoft.com/office/powerpoint/2010/main" val="722076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C6C7-97F6-F87F-FB79-0D47EBC783D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5FE07A4-6739-518F-72C4-D9C19ADC5FF0}"/>
              </a:ext>
            </a:extLst>
          </p:cNvPr>
          <p:cNvSpPr txBox="1"/>
          <p:nvPr/>
        </p:nvSpPr>
        <p:spPr>
          <a:xfrm>
            <a:off x="637720" y="284928"/>
            <a:ext cx="7420448" cy="523220"/>
          </a:xfrm>
          <a:prstGeom prst="rect">
            <a:avLst/>
          </a:prstGeom>
          <a:noFill/>
        </p:spPr>
        <p:txBody>
          <a:bodyPr wrap="square" rtlCol="0">
            <a:spAutoFit/>
          </a:bodyPr>
          <a:lstStyle/>
          <a:p>
            <a:pPr marL="514350" indent="-514350">
              <a:buFont typeface="+mj-lt"/>
              <a:buAutoNum type="arabicPeriod" startAt="5"/>
            </a:pPr>
            <a:r>
              <a:rPr lang="fr-FR" sz="2800" b="1" dirty="0">
                <a:solidFill>
                  <a:srgbClr val="C00000"/>
                </a:solidFill>
                <a:latin typeface="Arial" panose="020B0604020202020204" pitchFamily="34" charset="0"/>
                <a:cs typeface="Arial" panose="020B0604020202020204" pitchFamily="34" charset="0"/>
              </a:rPr>
              <a:t>Caractéristiques des clusters</a:t>
            </a:r>
          </a:p>
        </p:txBody>
      </p:sp>
      <p:sp>
        <p:nvSpPr>
          <p:cNvPr id="4" name="ZoneTexte 3">
            <a:extLst>
              <a:ext uri="{FF2B5EF4-FFF2-40B4-BE49-F238E27FC236}">
                <a16:creationId xmlns:a16="http://schemas.microsoft.com/office/drawing/2014/main" id="{16E75568-2A36-6BF7-848B-317A8C19901E}"/>
              </a:ext>
            </a:extLst>
          </p:cNvPr>
          <p:cNvSpPr txBox="1"/>
          <p:nvPr/>
        </p:nvSpPr>
        <p:spPr>
          <a:xfrm>
            <a:off x="1415158" y="1314764"/>
            <a:ext cx="4680842" cy="461665"/>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Cluster 0 </a:t>
            </a:r>
            <a:r>
              <a:rPr lang="fr-FR" sz="2400" dirty="0">
                <a:latin typeface="Arial" panose="020B0604020202020204" pitchFamily="34" charset="0"/>
                <a:cs typeface="Arial" panose="020B0604020202020204" pitchFamily="34" charset="0"/>
              </a:rPr>
              <a:t>: Allemagne, Japon</a:t>
            </a:r>
          </a:p>
        </p:txBody>
      </p:sp>
      <p:pic>
        <p:nvPicPr>
          <p:cNvPr id="1026" name="Picture 2" descr="Drapeau de l'Allemagne — Wikipédia">
            <a:extLst>
              <a:ext uri="{FF2B5EF4-FFF2-40B4-BE49-F238E27FC236}">
                <a16:creationId xmlns:a16="http://schemas.microsoft.com/office/drawing/2014/main" id="{59F5CEE6-0361-BAE4-E4B7-2BE935317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2419" y="1263492"/>
            <a:ext cx="1358462" cy="81507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rapeau Du Japon 90X150Cm chez DeguizFetes.">
            <a:extLst>
              <a:ext uri="{FF2B5EF4-FFF2-40B4-BE49-F238E27FC236}">
                <a16:creationId xmlns:a16="http://schemas.microsoft.com/office/drawing/2014/main" id="{CE6AB4C9-6105-7985-0D78-E87BEFDEE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2056" y="657900"/>
            <a:ext cx="1519698" cy="2026263"/>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F45B58CE-00F4-8745-31CD-123F602907BE}"/>
              </a:ext>
            </a:extLst>
          </p:cNvPr>
          <p:cNvSpPr txBox="1"/>
          <p:nvPr/>
        </p:nvSpPr>
        <p:spPr>
          <a:xfrm>
            <a:off x="227207" y="2684163"/>
            <a:ext cx="6243483" cy="2031325"/>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Caractéristiques principales : </a:t>
            </a: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Pays développés à haute technologie</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Vieillissement de la population </a:t>
            </a:r>
          </a:p>
          <a:p>
            <a:pPr marL="742950" lvl="1" indent="-285750">
              <a:buFont typeface="Arial" panose="020B0604020202020204" pitchFamily="34" charset="0"/>
              <a:buChar char="•"/>
            </a:pPr>
            <a:r>
              <a:rPr lang="fr-FR">
                <a:latin typeface="Arial" panose="020B0604020202020204" pitchFamily="34" charset="0"/>
                <a:cs typeface="Arial" panose="020B0604020202020204" pitchFamily="34" charset="0"/>
              </a:rPr>
              <a:t>Rigueur </a:t>
            </a:r>
            <a:r>
              <a:rPr lang="fr-FR" dirty="0">
                <a:latin typeface="Arial" panose="020B0604020202020204" pitchFamily="34" charset="0"/>
                <a:cs typeface="Arial" panose="020B0604020202020204" pitchFamily="34" charset="0"/>
              </a:rPr>
              <a:t>réglementaire et normes de qualité élevées </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Main-d'œuvre qualifiée </a:t>
            </a:r>
          </a:p>
          <a:p>
            <a:endParaRPr lang="fr-FR" dirty="0"/>
          </a:p>
        </p:txBody>
      </p:sp>
    </p:spTree>
    <p:extLst>
      <p:ext uri="{BB962C8B-B14F-4D97-AF65-F5344CB8AC3E}">
        <p14:creationId xmlns:p14="http://schemas.microsoft.com/office/powerpoint/2010/main" val="1179904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C6C7-97F6-F87F-FB79-0D47EBC783D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5FE07A4-6739-518F-72C4-D9C19ADC5FF0}"/>
              </a:ext>
            </a:extLst>
          </p:cNvPr>
          <p:cNvSpPr txBox="1"/>
          <p:nvPr/>
        </p:nvSpPr>
        <p:spPr>
          <a:xfrm>
            <a:off x="637720" y="284928"/>
            <a:ext cx="7420448" cy="523220"/>
          </a:xfrm>
          <a:prstGeom prst="rect">
            <a:avLst/>
          </a:prstGeom>
          <a:noFill/>
        </p:spPr>
        <p:txBody>
          <a:bodyPr wrap="square" rtlCol="0">
            <a:spAutoFit/>
          </a:bodyPr>
          <a:lstStyle/>
          <a:p>
            <a:pPr marL="514350" indent="-514350">
              <a:buFont typeface="+mj-lt"/>
              <a:buAutoNum type="arabicPeriod" startAt="5"/>
            </a:pPr>
            <a:r>
              <a:rPr lang="fr-FR" sz="2800" b="1" dirty="0">
                <a:solidFill>
                  <a:srgbClr val="C00000"/>
                </a:solidFill>
                <a:latin typeface="Arial" panose="020B0604020202020204" pitchFamily="34" charset="0"/>
                <a:cs typeface="Arial" panose="020B0604020202020204" pitchFamily="34" charset="0"/>
              </a:rPr>
              <a:t>Caractéristiques des clusters</a:t>
            </a:r>
          </a:p>
        </p:txBody>
      </p:sp>
      <p:sp>
        <p:nvSpPr>
          <p:cNvPr id="3" name="ZoneTexte 2">
            <a:extLst>
              <a:ext uri="{FF2B5EF4-FFF2-40B4-BE49-F238E27FC236}">
                <a16:creationId xmlns:a16="http://schemas.microsoft.com/office/drawing/2014/main" id="{67E0338D-B3F5-2744-CA45-0A22CD3498A9}"/>
              </a:ext>
            </a:extLst>
          </p:cNvPr>
          <p:cNvSpPr txBox="1"/>
          <p:nvPr/>
        </p:nvSpPr>
        <p:spPr>
          <a:xfrm>
            <a:off x="1415158" y="1314764"/>
            <a:ext cx="4680842" cy="461665"/>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Cluster 1 </a:t>
            </a:r>
            <a:r>
              <a:rPr lang="fr-FR" sz="2400" dirty="0">
                <a:latin typeface="Arial" panose="020B0604020202020204" pitchFamily="34" charset="0"/>
                <a:cs typeface="Arial" panose="020B0604020202020204" pitchFamily="34" charset="0"/>
              </a:rPr>
              <a:t>: Chine continentale</a:t>
            </a:r>
          </a:p>
        </p:txBody>
      </p:sp>
      <p:pic>
        <p:nvPicPr>
          <p:cNvPr id="2050" name="Picture 2" descr="Sticker drapeau Chine">
            <a:extLst>
              <a:ext uri="{FF2B5EF4-FFF2-40B4-BE49-F238E27FC236}">
                <a16:creationId xmlns:a16="http://schemas.microsoft.com/office/drawing/2014/main" id="{EF576009-DAA7-3EE6-5130-0245A4634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5173" y="808148"/>
            <a:ext cx="1580519" cy="1580519"/>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EB6112B4-88A2-E423-AB8E-7E1E5EDD04B3}"/>
              </a:ext>
            </a:extLst>
          </p:cNvPr>
          <p:cNvSpPr txBox="1"/>
          <p:nvPr/>
        </p:nvSpPr>
        <p:spPr>
          <a:xfrm>
            <a:off x="227207" y="2684163"/>
            <a:ext cx="7196148" cy="2585323"/>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Caractéristiques principales : </a:t>
            </a: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Economie émergente mais à forte croissance</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Grande population, mains-d’œuvre abondantes</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Fort investissement dans l’innovation et les infrastructures </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Poids géopolitique croissant</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Régime politique centralisé</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Marche intérieur immense</a:t>
            </a:r>
          </a:p>
          <a:p>
            <a:endParaRPr lang="fr-FR" dirty="0"/>
          </a:p>
        </p:txBody>
      </p:sp>
    </p:spTree>
    <p:extLst>
      <p:ext uri="{BB962C8B-B14F-4D97-AF65-F5344CB8AC3E}">
        <p14:creationId xmlns:p14="http://schemas.microsoft.com/office/powerpoint/2010/main" val="302449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C6C7-97F6-F87F-FB79-0D47EBC783D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5FE07A4-6739-518F-72C4-D9C19ADC5FF0}"/>
              </a:ext>
            </a:extLst>
          </p:cNvPr>
          <p:cNvSpPr txBox="1"/>
          <p:nvPr/>
        </p:nvSpPr>
        <p:spPr>
          <a:xfrm>
            <a:off x="637720" y="284928"/>
            <a:ext cx="7420448" cy="523220"/>
          </a:xfrm>
          <a:prstGeom prst="rect">
            <a:avLst/>
          </a:prstGeom>
          <a:noFill/>
        </p:spPr>
        <p:txBody>
          <a:bodyPr wrap="square" rtlCol="0">
            <a:spAutoFit/>
          </a:bodyPr>
          <a:lstStyle/>
          <a:p>
            <a:pPr marL="514350" indent="-514350">
              <a:buFont typeface="+mj-lt"/>
              <a:buAutoNum type="arabicPeriod" startAt="5"/>
            </a:pPr>
            <a:r>
              <a:rPr lang="fr-FR" sz="2800" b="1" dirty="0">
                <a:solidFill>
                  <a:srgbClr val="C00000"/>
                </a:solidFill>
                <a:latin typeface="Arial" panose="020B0604020202020204" pitchFamily="34" charset="0"/>
                <a:cs typeface="Arial" panose="020B0604020202020204" pitchFamily="34" charset="0"/>
              </a:rPr>
              <a:t>Caractéristiques des clusters</a:t>
            </a:r>
          </a:p>
        </p:txBody>
      </p:sp>
      <p:sp>
        <p:nvSpPr>
          <p:cNvPr id="3" name="ZoneTexte 2">
            <a:extLst>
              <a:ext uri="{FF2B5EF4-FFF2-40B4-BE49-F238E27FC236}">
                <a16:creationId xmlns:a16="http://schemas.microsoft.com/office/drawing/2014/main" id="{9A46EB95-24E3-35D9-0DF5-508D25A4D058}"/>
              </a:ext>
            </a:extLst>
          </p:cNvPr>
          <p:cNvSpPr txBox="1"/>
          <p:nvPr/>
        </p:nvSpPr>
        <p:spPr>
          <a:xfrm>
            <a:off x="1415158" y="1314764"/>
            <a:ext cx="5211784" cy="461665"/>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Cluster 2 </a:t>
            </a:r>
            <a:r>
              <a:rPr lang="fr-FR" sz="2400" dirty="0">
                <a:latin typeface="Arial" panose="020B0604020202020204" pitchFamily="34" charset="0"/>
                <a:cs typeface="Arial" panose="020B0604020202020204" pitchFamily="34" charset="0"/>
              </a:rPr>
              <a:t>: Etats-Unis d’Amérique</a:t>
            </a:r>
          </a:p>
        </p:txBody>
      </p:sp>
      <p:pic>
        <p:nvPicPr>
          <p:cNvPr id="3074" name="Picture 2" descr="USA United States of America Flag Sticker Decal F01 US Flag American Flag |  eBay">
            <a:extLst>
              <a:ext uri="{FF2B5EF4-FFF2-40B4-BE49-F238E27FC236}">
                <a16:creationId xmlns:a16="http://schemas.microsoft.com/office/drawing/2014/main" id="{AB60D3F0-9494-1614-04B8-B06C865ECD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5373" y="1130586"/>
            <a:ext cx="1672795" cy="91585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D3543423-F3A2-563F-E650-C8BF9D7E15B2}"/>
              </a:ext>
            </a:extLst>
          </p:cNvPr>
          <p:cNvSpPr txBox="1"/>
          <p:nvPr/>
        </p:nvSpPr>
        <p:spPr>
          <a:xfrm>
            <a:off x="227207" y="2684163"/>
            <a:ext cx="7196148" cy="2585323"/>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Caractéristiques principales : </a:t>
            </a:r>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Economie de marché très libéral</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Puissance technologie et financière mondiale</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Société multiculturelle</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Leadership dans l’innovation (GAFAM)</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Consommation de masse</a:t>
            </a:r>
          </a:p>
          <a:p>
            <a:pPr marL="742950" lvl="1" indent="-285750">
              <a:buFont typeface="Arial" panose="020B0604020202020204" pitchFamily="34" charset="0"/>
              <a:buChar char="•"/>
            </a:pPr>
            <a:r>
              <a:rPr lang="fr-FR" dirty="0">
                <a:latin typeface="Arial" panose="020B0604020202020204" pitchFamily="34" charset="0"/>
                <a:cs typeface="Arial" panose="020B0604020202020204" pitchFamily="34" charset="0"/>
              </a:rPr>
              <a:t>Rôle militaire et diplomatique mondial</a:t>
            </a:r>
          </a:p>
          <a:p>
            <a:endParaRPr lang="fr-FR" dirty="0"/>
          </a:p>
        </p:txBody>
      </p:sp>
    </p:spTree>
    <p:extLst>
      <p:ext uri="{BB962C8B-B14F-4D97-AF65-F5344CB8AC3E}">
        <p14:creationId xmlns:p14="http://schemas.microsoft.com/office/powerpoint/2010/main" val="3514416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7915-3706-660B-43BE-2CDE57105E8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9A30FFF-8ECC-9564-82DF-48F91A426C69}"/>
              </a:ext>
            </a:extLst>
          </p:cNvPr>
          <p:cNvSpPr txBox="1"/>
          <p:nvPr/>
        </p:nvSpPr>
        <p:spPr>
          <a:xfrm>
            <a:off x="598391" y="314425"/>
            <a:ext cx="7420448" cy="523220"/>
          </a:xfrm>
          <a:prstGeom prst="rect">
            <a:avLst/>
          </a:prstGeom>
          <a:noFill/>
        </p:spPr>
        <p:txBody>
          <a:bodyPr wrap="square" rtlCol="0">
            <a:spAutoFit/>
          </a:bodyPr>
          <a:lstStyle/>
          <a:p>
            <a:pPr marL="514350" indent="-514350">
              <a:buFont typeface="+mj-lt"/>
              <a:buAutoNum type="arabicPeriod" startAt="6"/>
            </a:pPr>
            <a:r>
              <a:rPr lang="fr-FR" sz="2800" b="1" dirty="0">
                <a:solidFill>
                  <a:srgbClr val="C00000"/>
                </a:solidFill>
                <a:latin typeface="Arial" panose="020B0604020202020204" pitchFamily="34" charset="0"/>
                <a:cs typeface="Arial" panose="020B0604020202020204" pitchFamily="34" charset="0"/>
              </a:rPr>
              <a:t>Recommandations</a:t>
            </a:r>
          </a:p>
        </p:txBody>
      </p:sp>
      <p:pic>
        <p:nvPicPr>
          <p:cNvPr id="1026" name="Picture 2" descr="flag of Japan vector illustration 489089 Vector Art at Vecteezy">
            <a:extLst>
              <a:ext uri="{FF2B5EF4-FFF2-40B4-BE49-F238E27FC236}">
                <a16:creationId xmlns:a16="http://schemas.microsoft.com/office/drawing/2014/main" id="{D9A71AF7-47CC-E110-389B-E14A6FE06A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391" y="1368587"/>
            <a:ext cx="1171415" cy="129491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0BF074FE-CA31-D09D-2F44-ED6BE9A16E44}"/>
              </a:ext>
            </a:extLst>
          </p:cNvPr>
          <p:cNvSpPr txBox="1"/>
          <p:nvPr/>
        </p:nvSpPr>
        <p:spPr>
          <a:xfrm>
            <a:off x="2222091" y="1779639"/>
            <a:ext cx="1848464" cy="461665"/>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Japon</a:t>
            </a:r>
          </a:p>
        </p:txBody>
      </p:sp>
      <p:sp>
        <p:nvSpPr>
          <p:cNvPr id="9" name="ZoneTexte 8">
            <a:extLst>
              <a:ext uri="{FF2B5EF4-FFF2-40B4-BE49-F238E27FC236}">
                <a16:creationId xmlns:a16="http://schemas.microsoft.com/office/drawing/2014/main" id="{D09B3329-F2DC-04AF-F1B9-1884599DB5E2}"/>
              </a:ext>
            </a:extLst>
          </p:cNvPr>
          <p:cNvSpPr txBox="1"/>
          <p:nvPr/>
        </p:nvSpPr>
        <p:spPr>
          <a:xfrm>
            <a:off x="2772133" y="3900430"/>
            <a:ext cx="8760542" cy="2031325"/>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Très forte dépendance aux importations (+ de 60% de sa volaille est importée)</a:t>
            </a:r>
          </a:p>
          <a:p>
            <a:br>
              <a:rPr lang="fr-FR" dirty="0">
                <a:latin typeface="Arial" panose="020B0604020202020204" pitchFamily="34" charset="0"/>
                <a:cs typeface="Arial" panose="020B0604020202020204" pitchFamily="34" charset="0"/>
              </a:rPr>
            </a:br>
            <a:r>
              <a:rPr lang="fr-FR" dirty="0">
                <a:latin typeface="Arial" panose="020B0604020202020204" pitchFamily="34" charset="0"/>
                <a:cs typeface="Arial" panose="020B0604020202020204" pitchFamily="34" charset="0"/>
              </a:rPr>
              <a:t>Pouvoir d’achat très élevé</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Population friande du poulet</a:t>
            </a: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05310DCC-5D50-527E-5710-1B9BB73B0E0A}"/>
              </a:ext>
            </a:extLst>
          </p:cNvPr>
          <p:cNvSpPr txBox="1"/>
          <p:nvPr/>
        </p:nvSpPr>
        <p:spPr>
          <a:xfrm>
            <a:off x="2787947" y="3254099"/>
            <a:ext cx="5456904" cy="646331"/>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Règle d’import strictes</a:t>
            </a:r>
          </a:p>
          <a:p>
            <a:endParaRPr lang="fr-FR" dirty="0"/>
          </a:p>
        </p:txBody>
      </p:sp>
      <p:pic>
        <p:nvPicPr>
          <p:cNvPr id="5" name="Graphique 4" descr="Coche avec un remplissage uni">
            <a:extLst>
              <a:ext uri="{FF2B5EF4-FFF2-40B4-BE49-F238E27FC236}">
                <a16:creationId xmlns:a16="http://schemas.microsoft.com/office/drawing/2014/main" id="{0C4E4FFF-DD7E-FDB3-FB04-32A01D04FE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26282" y="3776130"/>
            <a:ext cx="461665" cy="461665"/>
          </a:xfrm>
          <a:prstGeom prst="rect">
            <a:avLst/>
          </a:prstGeom>
        </p:spPr>
      </p:pic>
      <p:pic>
        <p:nvPicPr>
          <p:cNvPr id="6" name="Graphique 5" descr="Coche avec un remplissage uni">
            <a:extLst>
              <a:ext uri="{FF2B5EF4-FFF2-40B4-BE49-F238E27FC236}">
                <a16:creationId xmlns:a16="http://schemas.microsoft.com/office/drawing/2014/main" id="{82C91109-2233-5AB3-62B7-6CBF1E0B3C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26282" y="4356360"/>
            <a:ext cx="461665" cy="461665"/>
          </a:xfrm>
          <a:prstGeom prst="rect">
            <a:avLst/>
          </a:prstGeom>
        </p:spPr>
      </p:pic>
      <p:pic>
        <p:nvPicPr>
          <p:cNvPr id="7" name="Graphique 6" descr="Coche avec un remplissage uni">
            <a:extLst>
              <a:ext uri="{FF2B5EF4-FFF2-40B4-BE49-F238E27FC236}">
                <a16:creationId xmlns:a16="http://schemas.microsoft.com/office/drawing/2014/main" id="{3EACE93D-FF9D-4E22-A49B-9AA2607DC5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5397" y="4913225"/>
            <a:ext cx="461665" cy="461665"/>
          </a:xfrm>
          <a:prstGeom prst="rect">
            <a:avLst/>
          </a:prstGeom>
        </p:spPr>
      </p:pic>
      <p:pic>
        <p:nvPicPr>
          <p:cNvPr id="13" name="Graphique 12" descr="Point d’exclamation avec un remplissage uni">
            <a:extLst>
              <a:ext uri="{FF2B5EF4-FFF2-40B4-BE49-F238E27FC236}">
                <a16:creationId xmlns:a16="http://schemas.microsoft.com/office/drawing/2014/main" id="{4223CB7F-258A-5A81-4813-9E6DC05292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6694" y="3176008"/>
            <a:ext cx="540839" cy="540839"/>
          </a:xfrm>
          <a:prstGeom prst="rect">
            <a:avLst/>
          </a:prstGeom>
        </p:spPr>
      </p:pic>
    </p:spTree>
    <p:extLst>
      <p:ext uri="{BB962C8B-B14F-4D97-AF65-F5344CB8AC3E}">
        <p14:creationId xmlns:p14="http://schemas.microsoft.com/office/powerpoint/2010/main" val="101256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8123-8C87-6C78-C7BF-4D2AD4A5332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40A81A1-5867-D648-FA77-9103CEF21D07}"/>
              </a:ext>
            </a:extLst>
          </p:cNvPr>
          <p:cNvSpPr txBox="1"/>
          <p:nvPr/>
        </p:nvSpPr>
        <p:spPr>
          <a:xfrm>
            <a:off x="598391" y="314425"/>
            <a:ext cx="7420448" cy="523220"/>
          </a:xfrm>
          <a:prstGeom prst="rect">
            <a:avLst/>
          </a:prstGeom>
          <a:noFill/>
        </p:spPr>
        <p:txBody>
          <a:bodyPr wrap="square" rtlCol="0">
            <a:spAutoFit/>
          </a:bodyPr>
          <a:lstStyle/>
          <a:p>
            <a:pPr marL="514350" indent="-514350">
              <a:buFont typeface="+mj-lt"/>
              <a:buAutoNum type="arabicPeriod" startAt="6"/>
            </a:pPr>
            <a:r>
              <a:rPr lang="fr-FR" sz="2800" b="1" dirty="0">
                <a:solidFill>
                  <a:srgbClr val="C00000"/>
                </a:solidFill>
                <a:latin typeface="Arial" panose="020B0604020202020204" pitchFamily="34" charset="0"/>
                <a:cs typeface="Arial" panose="020B0604020202020204" pitchFamily="34" charset="0"/>
              </a:rPr>
              <a:t>Recommandations</a:t>
            </a:r>
          </a:p>
        </p:txBody>
      </p:sp>
      <p:sp>
        <p:nvSpPr>
          <p:cNvPr id="3" name="ZoneTexte 2">
            <a:extLst>
              <a:ext uri="{FF2B5EF4-FFF2-40B4-BE49-F238E27FC236}">
                <a16:creationId xmlns:a16="http://schemas.microsoft.com/office/drawing/2014/main" id="{AB2E4CE2-355D-9405-1111-0FC0FB52E3B4}"/>
              </a:ext>
            </a:extLst>
          </p:cNvPr>
          <p:cNvSpPr txBox="1"/>
          <p:nvPr/>
        </p:nvSpPr>
        <p:spPr>
          <a:xfrm>
            <a:off x="2222091" y="1779639"/>
            <a:ext cx="3156154" cy="461665"/>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Chine, à envisager</a:t>
            </a:r>
          </a:p>
        </p:txBody>
      </p:sp>
      <p:sp>
        <p:nvSpPr>
          <p:cNvPr id="9" name="ZoneTexte 8">
            <a:extLst>
              <a:ext uri="{FF2B5EF4-FFF2-40B4-BE49-F238E27FC236}">
                <a16:creationId xmlns:a16="http://schemas.microsoft.com/office/drawing/2014/main" id="{626F88E0-DE53-C8DC-B2AA-873EC5D27F0B}"/>
              </a:ext>
            </a:extLst>
          </p:cNvPr>
          <p:cNvSpPr txBox="1"/>
          <p:nvPr/>
        </p:nvSpPr>
        <p:spPr>
          <a:xfrm>
            <a:off x="2772133" y="3913523"/>
            <a:ext cx="8760542" cy="1477328"/>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Fort consommateur de volaille</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Import croissant depuis des années</a:t>
            </a:r>
          </a:p>
          <a:p>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Grande taille de marché</a:t>
            </a:r>
          </a:p>
        </p:txBody>
      </p:sp>
      <p:sp>
        <p:nvSpPr>
          <p:cNvPr id="10" name="ZoneTexte 9">
            <a:extLst>
              <a:ext uri="{FF2B5EF4-FFF2-40B4-BE49-F238E27FC236}">
                <a16:creationId xmlns:a16="http://schemas.microsoft.com/office/drawing/2014/main" id="{2C4B42FA-967B-217D-AF59-21792C8B3E0A}"/>
              </a:ext>
            </a:extLst>
          </p:cNvPr>
          <p:cNvSpPr txBox="1"/>
          <p:nvPr/>
        </p:nvSpPr>
        <p:spPr>
          <a:xfrm>
            <a:off x="2772131" y="3283629"/>
            <a:ext cx="5456904" cy="646331"/>
          </a:xfrm>
          <a:prstGeom prst="rect">
            <a:avLst/>
          </a:prstGeom>
          <a:noFill/>
        </p:spPr>
        <p:txBody>
          <a:bodyPr wrap="square" rtlCol="0">
            <a:spAutoFit/>
          </a:bodyPr>
          <a:lstStyle/>
          <a:p>
            <a:r>
              <a:rPr lang="fr-FR" dirty="0">
                <a:latin typeface="Arial" panose="020B0604020202020204" pitchFamily="34" charset="0"/>
                <a:cs typeface="Arial" panose="020B0604020202020204" pitchFamily="34" charset="0"/>
              </a:rPr>
              <a:t>Règlementation fluctuante</a:t>
            </a:r>
          </a:p>
          <a:p>
            <a:endParaRPr lang="fr-FR" dirty="0"/>
          </a:p>
        </p:txBody>
      </p:sp>
      <p:pic>
        <p:nvPicPr>
          <p:cNvPr id="2050" name="Picture 2" descr="drapeau de la Chine et bâton sur fond blanc 2287208 Art vectoriel chez ...">
            <a:extLst>
              <a:ext uri="{FF2B5EF4-FFF2-40B4-BE49-F238E27FC236}">
                <a16:creationId xmlns:a16="http://schemas.microsoft.com/office/drawing/2014/main" id="{0E2A7ADE-7F43-9DD6-352D-AD395B18FC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748" y="1499826"/>
            <a:ext cx="1278193" cy="1278193"/>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que 4" descr="Coche avec un remplissage uni">
            <a:extLst>
              <a:ext uri="{FF2B5EF4-FFF2-40B4-BE49-F238E27FC236}">
                <a16:creationId xmlns:a16="http://schemas.microsoft.com/office/drawing/2014/main" id="{9A371D62-71AC-FD8F-27AD-53EF18311D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0466" y="3821190"/>
            <a:ext cx="461665" cy="461665"/>
          </a:xfrm>
          <a:prstGeom prst="rect">
            <a:avLst/>
          </a:prstGeom>
        </p:spPr>
      </p:pic>
      <p:pic>
        <p:nvPicPr>
          <p:cNvPr id="6" name="Graphique 5" descr="Coche avec un remplissage uni">
            <a:extLst>
              <a:ext uri="{FF2B5EF4-FFF2-40B4-BE49-F238E27FC236}">
                <a16:creationId xmlns:a16="http://schemas.microsoft.com/office/drawing/2014/main" id="{35507DE4-6108-D978-26C5-8035920937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0466" y="4375188"/>
            <a:ext cx="461665" cy="461665"/>
          </a:xfrm>
          <a:prstGeom prst="rect">
            <a:avLst/>
          </a:prstGeom>
        </p:spPr>
      </p:pic>
      <p:pic>
        <p:nvPicPr>
          <p:cNvPr id="7" name="Graphique 6" descr="Coche avec un remplissage uni">
            <a:extLst>
              <a:ext uri="{FF2B5EF4-FFF2-40B4-BE49-F238E27FC236}">
                <a16:creationId xmlns:a16="http://schemas.microsoft.com/office/drawing/2014/main" id="{4984F278-4054-639B-974F-A6BD7310C1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0467" y="4929186"/>
            <a:ext cx="461665" cy="461665"/>
          </a:xfrm>
          <a:prstGeom prst="rect">
            <a:avLst/>
          </a:prstGeom>
        </p:spPr>
      </p:pic>
      <p:pic>
        <p:nvPicPr>
          <p:cNvPr id="11" name="Graphique 10" descr="Point d’exclamation avec un remplissage uni">
            <a:extLst>
              <a:ext uri="{FF2B5EF4-FFF2-40B4-BE49-F238E27FC236}">
                <a16:creationId xmlns:a16="http://schemas.microsoft.com/office/drawing/2014/main" id="{CFC06FDF-E407-5BD1-1055-68E279763A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70878" y="3158580"/>
            <a:ext cx="540839" cy="540839"/>
          </a:xfrm>
          <a:prstGeom prst="rect">
            <a:avLst/>
          </a:prstGeom>
        </p:spPr>
      </p:pic>
    </p:spTree>
    <p:extLst>
      <p:ext uri="{BB962C8B-B14F-4D97-AF65-F5344CB8AC3E}">
        <p14:creationId xmlns:p14="http://schemas.microsoft.com/office/powerpoint/2010/main" val="317198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6c818a6-e1a0-4a6e-a969-20d857c5dc62}" enabled="1" method="Standard" siteId="{90c7a20a-f34b-40bf-bc48-b9253b6f5d20}" removed="0"/>
</clbl:labelList>
</file>

<file path=docProps/app.xml><?xml version="1.0" encoding="utf-8"?>
<Properties xmlns="http://schemas.openxmlformats.org/officeDocument/2006/extended-properties" xmlns:vt="http://schemas.openxmlformats.org/officeDocument/2006/docPropsVTypes">
  <TotalTime>0</TotalTime>
  <Words>1033</Words>
  <Application>Microsoft Office PowerPoint</Application>
  <PresentationFormat>Grand écran</PresentationFormat>
  <Paragraphs>146</Paragraphs>
  <Slides>17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17</vt:i4>
      </vt:variant>
    </vt:vector>
  </HeadingPairs>
  <TitlesOfParts>
    <vt:vector size="23" baseType="lpstr">
      <vt:lpstr>Arial</vt:lpstr>
      <vt:lpstr>Calibri</vt:lpstr>
      <vt:lpstr>Calibri Light</vt:lpstr>
      <vt:lpstr>Helvetica 75 Bold</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Virginie DAVID</dc:creator>
  <cp:lastModifiedBy>Virginie DAVID</cp:lastModifiedBy>
  <cp:revision>76</cp:revision>
  <dcterms:created xsi:type="dcterms:W3CDTF">2025-05-08T11:59:32Z</dcterms:created>
  <dcterms:modified xsi:type="dcterms:W3CDTF">2025-06-06T11:52:25Z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Thème Office:8</vt:lpwstr>
  </property>
  <property fmtid="{D5CDD505-2E9C-101B-9397-08002B2CF9AE}" pid="3" name="ClassificationContentMarkingFooterText">
    <vt:lpwstr>Orange Restricted</vt:lpwstr>
  </property>
</Properties>
</file>